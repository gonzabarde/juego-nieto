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Presentar el juego en una frase: es un Jenga en el que cada bloque tiene una materia y un nivel de dificultad. Sacás el bloque, respondés una pregunta y sumás puntos. Mostrar los bloques impresos si están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Enfatizar que la innovación no es 'Jenga + trivia pegados', sino que la pieza impresa comunica por sí sola. Ese es el aporte del 3D.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tabla de arriba hacia abajo. El punto fuerte es la última fila: en el original ganar es sobrevivir; acá tirar la torre te deja en cero.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Detalle de diseño que conviene remarcar: las ranuras son hundidas a propósito. Si sobresalieran, los bloques no apoyarían bien y la torre se caería sola.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cinco materias son de secundaria argentina. La redundancia color/ranura/letra fue una decisión para que el juego no dependa de tener cinco filamentos distintos.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Aclarar por qué la carta la lee otro jugador: la respuesta está impresa abajo de la pregunta, así que el que responde no puede verla.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regla que hace que el juego tenga tensión: no alcanza con saber, hay que administrar el riesgo hasta el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corazón del proyecto. Si hay una sola diapositiva para defender por qué es una reinvención y no una copia, es 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preguntan por el contenido: las preguntas son de secundaria argentina y están repartidas por nivel, no puestas al azar.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dos piezas se diseñaron para imprimirse sin soportes: paredes verticales y boca hacia arriba. Es una decisión de diseño para impresión, no un detalle estético.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preguntan cuánto tarda: los 45 bloques son la parte larga, conviene imprimirlos en tandas.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ofrecer jugar una partida corta con la clase. Es la mejor demostración del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333"/>
        </a:solidFill>
      </p:bgPr>
    </p:bg>
    <p:spTree>
      <p:nvGrpSpPr>
        <p:cNvPr id="1" name=""/>
        <p:cNvGrpSpPr/>
        <p:nvPr/>
      </p:nvGrpSpPr>
      <p:grpSpPr>
        <a:xfrm>
          <a:off x="0" y="0"/>
          <a:ext cx="0" cy="0"/>
          <a:chOff x="0" y="0"/>
          <a:chExt cx="0" cy="0"/>
        </a:xfrm>
      </p:grpSpPr>
      <p:sp>
        <p:nvSpPr>
          <p:cNvPr id="2" name="Text 0"/>
          <p:cNvSpPr txBox="1"/>
          <p:nvPr/>
        </p:nvSpPr>
        <p:spPr>
          <a:xfrm>
            <a:off x="640080" y="1051560"/>
            <a:ext cx="7315200" cy="320040"/>
          </a:xfrm>
          <a:prstGeom prst="rect">
            <a:avLst/>
          </a:prstGeom>
          <a:noFill/>
          <a:ln/>
        </p:spPr>
        <p:txBody>
          <a:bodyPr wrap="square" lIns="0" tIns="0" rIns="0" bIns="0" rtlCol="0" anchor="ctr"/>
          <a:lstStyle/>
          <a:p>
            <a:pPr indent="0" marL="0">
              <a:buNone/>
            </a:pPr>
            <a:r>
              <a:rPr lang="en-US" sz="1250" b="1" spc="200" kern="0" dirty="0">
                <a:solidFill>
                  <a:srgbClr val="8A90A0"/>
                </a:solidFill>
                <a:latin typeface="Calibri" pitchFamily="34" charset="0"/>
                <a:ea typeface="Calibri" pitchFamily="34" charset="-122"/>
                <a:cs typeface="Calibri" pitchFamily="34" charset="-120"/>
              </a:rPr>
              <a:t>PROYECTO ESCOLAR · IMPRESIÓN 3D</a:t>
            </a:r>
            <a:endParaRPr lang="en-US" sz="1250" dirty="0"/>
          </a:p>
        </p:txBody>
      </p:sp>
      <p:sp>
        <p:nvSpPr>
          <p:cNvPr id="3" name="Text 1"/>
          <p:cNvSpPr txBox="1"/>
          <p:nvPr/>
        </p:nvSpPr>
        <p:spPr>
          <a:xfrm>
            <a:off x="640080" y="1554480"/>
            <a:ext cx="6949440" cy="2286000"/>
          </a:xfrm>
          <a:prstGeom prst="rect">
            <a:avLst/>
          </a:prstGeom>
          <a:noFill/>
          <a:ln/>
        </p:spPr>
        <p:txBody>
          <a:bodyPr wrap="square" lIns="0" tIns="0" rIns="0" bIns="0" rtlCol="0" anchor="ctr"/>
          <a:lstStyle/>
          <a:p>
            <a:pPr indent="0" marL="0">
              <a:lnSpc>
                <a:spcPts val="5400"/>
              </a:lnSpc>
              <a:buNone/>
            </a:pPr>
            <a:r>
              <a:rPr lang="en-US" sz="5200" b="1" dirty="0">
                <a:solidFill>
                  <a:srgbClr val="FFFFFF"/>
                </a:solidFill>
                <a:latin typeface="Cambria" pitchFamily="34" charset="0"/>
                <a:ea typeface="Cambria" pitchFamily="34" charset="-122"/>
                <a:cs typeface="Cambria" pitchFamily="34" charset="-120"/>
              </a:rPr>
              <a:t>Jenga de</a:t>
            </a:r>
            <a:endParaRPr lang="en-US" sz="5200" dirty="0"/>
          </a:p>
          <a:p>
            <a:pPr indent="0" marL="0">
              <a:lnSpc>
                <a:spcPts val="5400"/>
              </a:lnSpc>
              <a:buNone/>
            </a:pPr>
            <a:r>
              <a:rPr lang="en-US" sz="5200" b="1" dirty="0">
                <a:solidFill>
                  <a:srgbClr val="FFFFFF"/>
                </a:solidFill>
                <a:latin typeface="Cambria" pitchFamily="34" charset="0"/>
                <a:ea typeface="Cambria" pitchFamily="34" charset="-122"/>
                <a:cs typeface="Cambria" pitchFamily="34" charset="-120"/>
              </a:rPr>
              <a:t>Cultura General</a:t>
            </a:r>
            <a:endParaRPr lang="en-US" sz="5200" dirty="0"/>
          </a:p>
        </p:txBody>
      </p:sp>
      <p:sp>
        <p:nvSpPr>
          <p:cNvPr id="4" name="Text 2"/>
          <p:cNvSpPr txBox="1"/>
          <p:nvPr/>
        </p:nvSpPr>
        <p:spPr>
          <a:xfrm>
            <a:off x="640080" y="3977640"/>
            <a:ext cx="6949440" cy="457200"/>
          </a:xfrm>
          <a:prstGeom prst="rect">
            <a:avLst/>
          </a:prstGeom>
          <a:noFill/>
          <a:ln/>
        </p:spPr>
        <p:txBody>
          <a:bodyPr wrap="square" lIns="0" tIns="0" rIns="0" bIns="0" rtlCol="0" anchor="ctr"/>
          <a:lstStyle/>
          <a:p>
            <a:pPr indent="0" marL="0">
              <a:buNone/>
            </a:pPr>
            <a:r>
              <a:rPr lang="en-US" sz="1900" i="1" dirty="0">
                <a:solidFill>
                  <a:srgbClr val="D8DCE6"/>
                </a:solidFill>
                <a:latin typeface="Calibri" pitchFamily="34" charset="0"/>
                <a:ea typeface="Calibri" pitchFamily="34" charset="-122"/>
                <a:cs typeface="Calibri" pitchFamily="34" charset="-120"/>
              </a:rPr>
              <a:t>Un Jenga que además te hace pensar.</a:t>
            </a:r>
            <a:endParaRPr lang="en-US" sz="1900" dirty="0"/>
          </a:p>
        </p:txBody>
      </p:sp>
      <p:sp>
        <p:nvSpPr>
          <p:cNvPr id="5" name="Text 3"/>
          <p:cNvSpPr txBox="1"/>
          <p:nvPr/>
        </p:nvSpPr>
        <p:spPr>
          <a:xfrm>
            <a:off x="640080" y="4892040"/>
            <a:ext cx="1920240" cy="640080"/>
          </a:xfrm>
          <a:prstGeom prst="rect">
            <a:avLst/>
          </a:prstGeom>
          <a:noFill/>
          <a:ln/>
        </p:spPr>
        <p:txBody>
          <a:bodyPr wrap="square" lIns="0" tIns="0" rIns="0" bIns="0" rtlCol="0" anchor="ctr"/>
          <a:lstStyle/>
          <a:p>
            <a:pPr indent="0" marL="0">
              <a:buNone/>
            </a:pPr>
            <a:r>
              <a:rPr lang="en-US" sz="4000" b="1" dirty="0">
                <a:solidFill>
                  <a:srgbClr val="C24A2F"/>
                </a:solidFill>
                <a:latin typeface="Cambria" pitchFamily="34" charset="0"/>
                <a:ea typeface="Cambria" pitchFamily="34" charset="-122"/>
                <a:cs typeface="Cambria" pitchFamily="34" charset="-120"/>
              </a:rPr>
              <a:t>45</a:t>
            </a:r>
            <a:endParaRPr lang="en-US" sz="4000" dirty="0"/>
          </a:p>
        </p:txBody>
      </p:sp>
      <p:sp>
        <p:nvSpPr>
          <p:cNvPr id="6" name="Text 4"/>
          <p:cNvSpPr txBox="1"/>
          <p:nvPr/>
        </p:nvSpPr>
        <p:spPr>
          <a:xfrm>
            <a:off x="640080" y="5532120"/>
            <a:ext cx="1920240" cy="320040"/>
          </a:xfrm>
          <a:prstGeom prst="rect">
            <a:avLst/>
          </a:prstGeom>
          <a:noFill/>
          <a:ln/>
        </p:spPr>
        <p:txBody>
          <a:bodyPr wrap="square" lIns="0" tIns="0" rIns="0" bIns="0" rtlCol="0" anchor="ctr"/>
          <a:lstStyle/>
          <a:p>
            <a:pPr indent="0" marL="0">
              <a:buNone/>
            </a:pPr>
            <a:r>
              <a:rPr lang="en-US" sz="1300" dirty="0">
                <a:solidFill>
                  <a:srgbClr val="8A90A0"/>
                </a:solidFill>
                <a:latin typeface="Calibri" pitchFamily="34" charset="0"/>
                <a:ea typeface="Calibri" pitchFamily="34" charset="-122"/>
                <a:cs typeface="Calibri" pitchFamily="34" charset="-120"/>
              </a:rPr>
              <a:t>bloques 3D</a:t>
            </a:r>
            <a:endParaRPr lang="en-US" sz="1300" dirty="0"/>
          </a:p>
        </p:txBody>
      </p:sp>
      <p:sp>
        <p:nvSpPr>
          <p:cNvPr id="7" name="Text 5"/>
          <p:cNvSpPr txBox="1"/>
          <p:nvPr/>
        </p:nvSpPr>
        <p:spPr>
          <a:xfrm>
            <a:off x="2788920" y="4892040"/>
            <a:ext cx="1920240" cy="640080"/>
          </a:xfrm>
          <a:prstGeom prst="rect">
            <a:avLst/>
          </a:prstGeom>
          <a:noFill/>
          <a:ln/>
        </p:spPr>
        <p:txBody>
          <a:bodyPr wrap="square" lIns="0" tIns="0" rIns="0" bIns="0" rtlCol="0" anchor="ctr"/>
          <a:lstStyle/>
          <a:p>
            <a:pPr indent="0" marL="0">
              <a:buNone/>
            </a:pPr>
            <a:r>
              <a:rPr lang="en-US" sz="4000" b="1" dirty="0">
                <a:solidFill>
                  <a:srgbClr val="C24A2F"/>
                </a:solidFill>
                <a:latin typeface="Cambria" pitchFamily="34" charset="0"/>
                <a:ea typeface="Cambria" pitchFamily="34" charset="-122"/>
                <a:cs typeface="Cambria" pitchFamily="34" charset="-120"/>
              </a:rPr>
              <a:t>60</a:t>
            </a:r>
            <a:endParaRPr lang="en-US" sz="4000" dirty="0"/>
          </a:p>
        </p:txBody>
      </p:sp>
      <p:sp>
        <p:nvSpPr>
          <p:cNvPr id="8" name="Text 6"/>
          <p:cNvSpPr txBox="1"/>
          <p:nvPr/>
        </p:nvSpPr>
        <p:spPr>
          <a:xfrm>
            <a:off x="2788920" y="5532120"/>
            <a:ext cx="1920240" cy="320040"/>
          </a:xfrm>
          <a:prstGeom prst="rect">
            <a:avLst/>
          </a:prstGeom>
          <a:noFill/>
          <a:ln/>
        </p:spPr>
        <p:txBody>
          <a:bodyPr wrap="square" lIns="0" tIns="0" rIns="0" bIns="0" rtlCol="0" anchor="ctr"/>
          <a:lstStyle/>
          <a:p>
            <a:pPr indent="0" marL="0">
              <a:buNone/>
            </a:pPr>
            <a:r>
              <a:rPr lang="en-US" sz="1300" dirty="0">
                <a:solidFill>
                  <a:srgbClr val="8A90A0"/>
                </a:solidFill>
                <a:latin typeface="Calibri" pitchFamily="34" charset="0"/>
                <a:ea typeface="Calibri" pitchFamily="34" charset="-122"/>
                <a:cs typeface="Calibri" pitchFamily="34" charset="-120"/>
              </a:rPr>
              <a:t>preguntas</a:t>
            </a:r>
            <a:endParaRPr lang="en-US" sz="1300" dirty="0"/>
          </a:p>
        </p:txBody>
      </p:sp>
      <p:sp>
        <p:nvSpPr>
          <p:cNvPr id="9" name="Text 7"/>
          <p:cNvSpPr txBox="1"/>
          <p:nvPr/>
        </p:nvSpPr>
        <p:spPr>
          <a:xfrm>
            <a:off x="4937760" y="4892040"/>
            <a:ext cx="1920240" cy="640080"/>
          </a:xfrm>
          <a:prstGeom prst="rect">
            <a:avLst/>
          </a:prstGeom>
          <a:noFill/>
          <a:ln/>
        </p:spPr>
        <p:txBody>
          <a:bodyPr wrap="square" lIns="0" tIns="0" rIns="0" bIns="0" rtlCol="0" anchor="ctr"/>
          <a:lstStyle/>
          <a:p>
            <a:pPr indent="0" marL="0">
              <a:buNone/>
            </a:pPr>
            <a:r>
              <a:rPr lang="en-US" sz="4000" b="1" dirty="0">
                <a:solidFill>
                  <a:srgbClr val="C24A2F"/>
                </a:solidFill>
                <a:latin typeface="Cambria" pitchFamily="34" charset="0"/>
                <a:ea typeface="Cambria" pitchFamily="34" charset="-122"/>
                <a:cs typeface="Cambria" pitchFamily="34" charset="-120"/>
              </a:rPr>
              <a:t>2–4</a:t>
            </a:r>
            <a:endParaRPr lang="en-US" sz="4000" dirty="0"/>
          </a:p>
        </p:txBody>
      </p:sp>
      <p:sp>
        <p:nvSpPr>
          <p:cNvPr id="10" name="Text 8"/>
          <p:cNvSpPr txBox="1"/>
          <p:nvPr/>
        </p:nvSpPr>
        <p:spPr>
          <a:xfrm>
            <a:off x="4937760" y="5532120"/>
            <a:ext cx="1920240" cy="320040"/>
          </a:xfrm>
          <a:prstGeom prst="rect">
            <a:avLst/>
          </a:prstGeom>
          <a:noFill/>
          <a:ln/>
        </p:spPr>
        <p:txBody>
          <a:bodyPr wrap="square" lIns="0" tIns="0" rIns="0" bIns="0" rtlCol="0" anchor="ctr"/>
          <a:lstStyle/>
          <a:p>
            <a:pPr indent="0" marL="0">
              <a:buNone/>
            </a:pPr>
            <a:r>
              <a:rPr lang="en-US" sz="1300" dirty="0">
                <a:solidFill>
                  <a:srgbClr val="8A90A0"/>
                </a:solidFill>
                <a:latin typeface="Calibri" pitchFamily="34" charset="0"/>
                <a:ea typeface="Calibri" pitchFamily="34" charset="-122"/>
                <a:cs typeface="Calibri" pitchFamily="34" charset="-120"/>
              </a:rPr>
              <a:t>jugadores</a:t>
            </a:r>
            <a:endParaRPr lang="en-US" sz="1300" dirty="0"/>
          </a:p>
        </p:txBody>
      </p:sp>
      <p:pic>
        <p:nvPicPr>
          <p:cNvPr id="11" name="Image 0" descr="Tres bloques del juego, uno de cada nivel, con una, dos y tres ranuras">    </p:cNvPr>
          <p:cNvPicPr>
            <a:picLocks noChangeAspect="1"/>
          </p:cNvPicPr>
          <p:nvPr/>
        </p:nvPicPr>
        <p:blipFill>
          <a:blip r:embed="rId1"/>
          <a:stretch>
            <a:fillRect/>
          </a:stretch>
        </p:blipFill>
        <p:spPr>
          <a:xfrm>
            <a:off x="7040880" y="2788920"/>
            <a:ext cx="4572000" cy="116958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De dónde salió la idea</a:t>
            </a:r>
            <a:endParaRPr lang="en-US" sz="3800" dirty="0"/>
          </a:p>
        </p:txBody>
      </p:sp>
      <p:sp>
        <p:nvSpPr>
          <p:cNvPr id="3" name="Text 1"/>
          <p:cNvSpPr txBox="1"/>
          <p:nvPr/>
        </p:nvSpPr>
        <p:spPr>
          <a:xfrm>
            <a:off x="640080" y="1508760"/>
            <a:ext cx="5486400" cy="1005840"/>
          </a:xfrm>
          <a:prstGeom prst="rect">
            <a:avLst/>
          </a:prstGeom>
          <a:noFill/>
          <a:ln/>
        </p:spPr>
        <p:txBody>
          <a:bodyPr wrap="square" lIns="0" tIns="0" rIns="0" bIns="0" rtlCol="0" anchor="ctr"/>
          <a:lstStyle/>
          <a:p>
            <a:pPr indent="0" marL="0">
              <a:lnSpc>
                <a:spcPts val="2400"/>
              </a:lnSpc>
              <a:buNone/>
            </a:pPr>
            <a:r>
              <a:rPr lang="en-US" sz="1600" dirty="0">
                <a:solidFill>
                  <a:srgbClr val="5A6070"/>
                </a:solidFill>
                <a:latin typeface="Calibri" pitchFamily="34" charset="0"/>
                <a:ea typeface="Calibri" pitchFamily="34" charset="-122"/>
                <a:cs typeface="Calibri" pitchFamily="34" charset="-120"/>
              </a:rPr>
              <a:t>El Jenga original es pura destreza: sacás un bloque y lo apoyás arriba. No hay nada que aprender ni nada que decidir más allá del pulso.</a:t>
            </a:r>
            <a:endParaRPr lang="en-US" sz="1600" dirty="0"/>
          </a:p>
        </p:txBody>
      </p:sp>
      <p:sp>
        <p:nvSpPr>
          <p:cNvPr id="4" name="Text 2"/>
          <p:cNvSpPr txBox="1"/>
          <p:nvPr/>
        </p:nvSpPr>
        <p:spPr>
          <a:xfrm>
            <a:off x="640080" y="2697480"/>
            <a:ext cx="5486400" cy="822960"/>
          </a:xfrm>
          <a:prstGeom prst="rect">
            <a:avLst/>
          </a:prstGeom>
          <a:noFill/>
          <a:ln/>
        </p:spPr>
        <p:txBody>
          <a:bodyPr wrap="square" lIns="0" tIns="0" rIns="0" bIns="0" rtlCol="0" anchor="ctr"/>
          <a:lstStyle/>
          <a:p>
            <a:pPr indent="0" marL="0">
              <a:lnSpc>
                <a:spcPts val="2800"/>
              </a:lnSpc>
              <a:buNone/>
            </a:pPr>
            <a:r>
              <a:rPr lang="en-US" sz="2100" b="1" dirty="0">
                <a:solidFill>
                  <a:srgbClr val="1A1A1A"/>
                </a:solidFill>
                <a:latin typeface="Cambria" pitchFamily="34" charset="0"/>
                <a:ea typeface="Cambria" pitchFamily="34" charset="-122"/>
                <a:cs typeface="Cambria" pitchFamily="34" charset="-120"/>
              </a:rPr>
              <a:t>La pregunta del proyecto fue: ¿qué pasa si el bloque también te dice algo?</a:t>
            </a:r>
            <a:endParaRPr lang="en-US" sz="2100" dirty="0"/>
          </a:p>
        </p:txBody>
      </p:sp>
      <p:sp>
        <p:nvSpPr>
          <p:cNvPr id="5" name="Text 3"/>
          <p:cNvSpPr txBox="1"/>
          <p:nvPr/>
        </p:nvSpPr>
        <p:spPr>
          <a:xfrm>
            <a:off x="640080" y="3703320"/>
            <a:ext cx="5486400" cy="1097280"/>
          </a:xfrm>
          <a:prstGeom prst="rect">
            <a:avLst/>
          </a:prstGeom>
          <a:noFill/>
          <a:ln/>
        </p:spPr>
        <p:txBody>
          <a:bodyPr wrap="square" lIns="0" tIns="0" rIns="0" bIns="0" rtlCol="0" anchor="ctr"/>
          <a:lstStyle/>
          <a:p>
            <a:pPr indent="0" marL="0">
              <a:lnSpc>
                <a:spcPts val="2400"/>
              </a:lnSpc>
              <a:buNone/>
            </a:pPr>
            <a:r>
              <a:rPr lang="en-US" sz="1600" dirty="0">
                <a:solidFill>
                  <a:srgbClr val="5A6070"/>
                </a:solidFill>
                <a:latin typeface="Calibri" pitchFamily="34" charset="0"/>
                <a:ea typeface="Calibri" pitchFamily="34" charset="-122"/>
                <a:cs typeface="Calibri" pitchFamily="34" charset="-120"/>
              </a:rPr>
              <a:t>La impresión 3D deja grabar información en la pieza misma. Un bloque puede llevar su materia en el color y su dificultad en la forma, sin una sola instrucción escrita.</a:t>
            </a:r>
            <a:endParaRPr lang="en-US" sz="1600" dirty="0"/>
          </a:p>
        </p:txBody>
      </p:sp>
      <p:sp>
        <p:nvSpPr>
          <p:cNvPr id="6" name="Shape 4"/>
          <p:cNvSpPr/>
          <p:nvPr/>
        </p:nvSpPr>
        <p:spPr>
          <a:xfrm>
            <a:off x="6675120" y="1600200"/>
            <a:ext cx="4846320" cy="2606040"/>
          </a:xfrm>
          <a:prstGeom prst="roundRect">
            <a:avLst>
              <a:gd name="adj" fmla="val 2105"/>
            </a:avLst>
          </a:prstGeom>
          <a:solidFill>
            <a:srgbClr val="F4F2EE"/>
          </a:solidFill>
          <a:ln w="12700">
            <a:solidFill>
              <a:srgbClr val="F4F2EE"/>
            </a:solidFill>
            <a:prstDash val="solid"/>
          </a:ln>
        </p:spPr>
      </p:sp>
      <p:pic>
        <p:nvPicPr>
          <p:cNvPr id="7" name="Image 0" descr="Tres bloques del juego, uno de cada nivel, con una, dos y tres ranuras">    </p:cNvPr>
          <p:cNvPicPr>
            <a:picLocks noChangeAspect="1"/>
          </p:cNvPicPr>
          <p:nvPr/>
        </p:nvPicPr>
        <p:blipFill>
          <a:blip r:embed="rId1"/>
          <a:stretch>
            <a:fillRect/>
          </a:stretch>
        </p:blipFill>
        <p:spPr>
          <a:xfrm>
            <a:off x="6995160" y="2194560"/>
            <a:ext cx="4206240" cy="1076015"/>
          </a:xfrm>
          <a:prstGeom prst="rect">
            <a:avLst/>
          </a:prstGeom>
        </p:spPr>
      </p:pic>
      <p:sp>
        <p:nvSpPr>
          <p:cNvPr id="8" name="Text 5"/>
          <p:cNvSpPr txBox="1"/>
          <p:nvPr/>
        </p:nvSpPr>
        <p:spPr>
          <a:xfrm>
            <a:off x="6903720" y="3566160"/>
            <a:ext cx="4389120" cy="365760"/>
          </a:xfrm>
          <a:prstGeom prst="rect">
            <a:avLst/>
          </a:prstGeom>
          <a:noFill/>
          <a:ln/>
        </p:spPr>
        <p:txBody>
          <a:bodyPr wrap="square" lIns="0" tIns="0" rIns="0" bIns="0" rtlCol="0" anchor="ctr"/>
          <a:lstStyle/>
          <a:p>
            <a:pPr algn="ctr" indent="0" marL="0">
              <a:buNone/>
            </a:pPr>
            <a:r>
              <a:rPr lang="en-US" sz="1250" i="1" dirty="0">
                <a:solidFill>
                  <a:srgbClr val="5A6070"/>
                </a:solidFill>
                <a:latin typeface="Calibri" pitchFamily="34" charset="0"/>
                <a:ea typeface="Calibri" pitchFamily="34" charset="-122"/>
                <a:cs typeface="Calibri" pitchFamily="34" charset="-120"/>
              </a:rPr>
              <a:t>El mismo bloque, tres niveles de dificultad.</a:t>
            </a:r>
            <a:endParaRPr lang="en-US" sz="1250" dirty="0"/>
          </a:p>
        </p:txBody>
      </p:sp>
      <p:sp>
        <p:nvSpPr>
          <p:cNvPr id="9" name="Shape 6"/>
          <p:cNvSpPr/>
          <p:nvPr/>
        </p:nvSpPr>
        <p:spPr>
          <a:xfrm>
            <a:off x="6675120" y="4434840"/>
            <a:ext cx="4846320" cy="1417320"/>
          </a:xfrm>
          <a:prstGeom prst="roundRect">
            <a:avLst>
              <a:gd name="adj" fmla="val 3871"/>
            </a:avLst>
          </a:prstGeom>
          <a:solidFill>
            <a:srgbClr val="F6EDE9"/>
          </a:solidFill>
          <a:ln w="12700">
            <a:solidFill>
              <a:srgbClr val="F6EDE9"/>
            </a:solidFill>
            <a:prstDash val="solid"/>
          </a:ln>
        </p:spPr>
      </p:sp>
      <p:sp>
        <p:nvSpPr>
          <p:cNvPr id="10" name="Text 7"/>
          <p:cNvSpPr txBox="1"/>
          <p:nvPr/>
        </p:nvSpPr>
        <p:spPr>
          <a:xfrm>
            <a:off x="6995160" y="4663440"/>
            <a:ext cx="4206240" cy="36576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15 bloques distintos, un solo archivo</a:t>
            </a:r>
            <a:endParaRPr lang="en-US" sz="1500" dirty="0"/>
          </a:p>
        </p:txBody>
      </p:sp>
      <p:sp>
        <p:nvSpPr>
          <p:cNvPr id="11" name="Text 8"/>
          <p:cNvSpPr txBox="1"/>
          <p:nvPr/>
        </p:nvSpPr>
        <p:spPr>
          <a:xfrm>
            <a:off x="6995160" y="5074920"/>
            <a:ext cx="4206240" cy="640080"/>
          </a:xfrm>
          <a:prstGeom prst="rect">
            <a:avLst/>
          </a:prstGeom>
          <a:noFill/>
          <a:ln/>
        </p:spPr>
        <p:txBody>
          <a:bodyPr wrap="square" lIns="0" tIns="0" rIns="0" bIns="0" rtlCol="0" anchor="ctr"/>
          <a:lstStyle/>
          <a:p>
            <a:pPr indent="0" marL="0">
              <a:lnSpc>
                <a:spcPts val="1700"/>
              </a:lnSpc>
              <a:buNone/>
            </a:pPr>
            <a:r>
              <a:rPr lang="en-US" sz="1300" dirty="0">
                <a:solidFill>
                  <a:srgbClr val="5A6070"/>
                </a:solidFill>
                <a:latin typeface="Calibri" pitchFamily="34" charset="0"/>
                <a:ea typeface="Calibri" pitchFamily="34" charset="-122"/>
                <a:cs typeface="Calibri" pitchFamily="34" charset="-120"/>
              </a:rPr>
              <a:t>El STL trae uno de cada materia y nivel. Se imprime 3 veces y quedan los 45 bloques del juego.</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Qué cambia respecto del Jenga original</a:t>
            </a:r>
            <a:endParaRPr lang="en-US" sz="3800" dirty="0"/>
          </a:p>
        </p:txBody>
      </p:sp>
      <p:sp>
        <p:nvSpPr>
          <p:cNvPr id="3" name="Text 1"/>
          <p:cNvSpPr txBox="1"/>
          <p:nvPr/>
        </p:nvSpPr>
        <p:spPr>
          <a:xfrm>
            <a:off x="640080" y="1234440"/>
            <a:ext cx="2377440" cy="274320"/>
          </a:xfrm>
          <a:prstGeom prst="rect">
            <a:avLst/>
          </a:prstGeom>
          <a:noFill/>
          <a:ln/>
        </p:spPr>
        <p:txBody>
          <a:bodyPr wrap="square" lIns="0" tIns="0" rIns="0" bIns="0" rtlCol="0" anchor="ctr"/>
          <a:lstStyle/>
          <a:p>
            <a:pPr indent="0" marL="0">
              <a:buNone/>
            </a:pPr>
            <a:r>
              <a:rPr lang="en-US" sz="1100" b="1" spc="100" kern="0" dirty="0">
                <a:solidFill>
                  <a:srgbClr val="8A90A0"/>
                </a:solidFill>
                <a:latin typeface="Calibri" pitchFamily="34" charset="0"/>
                <a:ea typeface="Calibri" pitchFamily="34" charset="-122"/>
                <a:cs typeface="Calibri" pitchFamily="34" charset="-120"/>
              </a:rPr>
              <a:t>ASPECTO</a:t>
            </a:r>
            <a:endParaRPr lang="en-US" sz="1100" dirty="0"/>
          </a:p>
        </p:txBody>
      </p:sp>
      <p:sp>
        <p:nvSpPr>
          <p:cNvPr id="4" name="Text 2"/>
          <p:cNvSpPr txBox="1"/>
          <p:nvPr/>
        </p:nvSpPr>
        <p:spPr>
          <a:xfrm>
            <a:off x="3108960" y="1234440"/>
            <a:ext cx="3291840" cy="274320"/>
          </a:xfrm>
          <a:prstGeom prst="rect">
            <a:avLst/>
          </a:prstGeom>
          <a:noFill/>
          <a:ln/>
        </p:spPr>
        <p:txBody>
          <a:bodyPr wrap="square" lIns="0" tIns="0" rIns="0" bIns="0" rtlCol="0" anchor="ctr"/>
          <a:lstStyle/>
          <a:p>
            <a:pPr indent="0" marL="0">
              <a:buNone/>
            </a:pPr>
            <a:r>
              <a:rPr lang="en-US" sz="1100" b="1" spc="100" kern="0" dirty="0">
                <a:solidFill>
                  <a:srgbClr val="8A90A0"/>
                </a:solidFill>
                <a:latin typeface="Calibri" pitchFamily="34" charset="0"/>
                <a:ea typeface="Calibri" pitchFamily="34" charset="-122"/>
                <a:cs typeface="Calibri" pitchFamily="34" charset="-120"/>
              </a:rPr>
              <a:t>JENGA ORIGINAL</a:t>
            </a:r>
            <a:endParaRPr lang="en-US" sz="1100" dirty="0"/>
          </a:p>
        </p:txBody>
      </p:sp>
      <p:sp>
        <p:nvSpPr>
          <p:cNvPr id="5" name="Text 3"/>
          <p:cNvSpPr txBox="1"/>
          <p:nvPr/>
        </p:nvSpPr>
        <p:spPr>
          <a:xfrm>
            <a:off x="6675120" y="1234440"/>
            <a:ext cx="4754880" cy="274320"/>
          </a:xfrm>
          <a:prstGeom prst="rect">
            <a:avLst/>
          </a:prstGeom>
          <a:noFill/>
          <a:ln/>
        </p:spPr>
        <p:txBody>
          <a:bodyPr wrap="square" lIns="0" tIns="0" rIns="0" bIns="0" rtlCol="0" anchor="ctr"/>
          <a:lstStyle/>
          <a:p>
            <a:pPr indent="0" marL="0">
              <a:buNone/>
            </a:pPr>
            <a:r>
              <a:rPr lang="en-US" sz="1100" b="1" spc="100" kern="0" dirty="0">
                <a:solidFill>
                  <a:srgbClr val="C24A2F"/>
                </a:solidFill>
                <a:latin typeface="Calibri" pitchFamily="34" charset="0"/>
                <a:ea typeface="Calibri" pitchFamily="34" charset="-122"/>
                <a:cs typeface="Calibri" pitchFamily="34" charset="-120"/>
              </a:rPr>
              <a:t>JENGA DE CULTURA GENERAL</a:t>
            </a:r>
            <a:endParaRPr lang="en-US" sz="1100" dirty="0"/>
          </a:p>
        </p:txBody>
      </p:sp>
      <p:sp>
        <p:nvSpPr>
          <p:cNvPr id="6" name="Shape 4"/>
          <p:cNvSpPr/>
          <p:nvPr/>
        </p:nvSpPr>
        <p:spPr>
          <a:xfrm>
            <a:off x="6492240" y="1618488"/>
            <a:ext cx="5029200" cy="676656"/>
          </a:xfrm>
          <a:prstGeom prst="roundRect">
            <a:avLst>
              <a:gd name="adj" fmla="val 8108"/>
            </a:avLst>
          </a:prstGeom>
          <a:solidFill>
            <a:srgbClr val="F6EDE9"/>
          </a:solidFill>
          <a:ln w="12700">
            <a:solidFill>
              <a:srgbClr val="F6EDE9"/>
            </a:solidFill>
            <a:prstDash val="solid"/>
          </a:ln>
        </p:spPr>
      </p:sp>
      <p:sp>
        <p:nvSpPr>
          <p:cNvPr id="7" name="Text 5"/>
          <p:cNvSpPr txBox="1"/>
          <p:nvPr/>
        </p:nvSpPr>
        <p:spPr>
          <a:xfrm>
            <a:off x="640080" y="1691640"/>
            <a:ext cx="2377440" cy="603504"/>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Objetivo</a:t>
            </a:r>
            <a:endParaRPr lang="en-US" sz="1500" dirty="0"/>
          </a:p>
        </p:txBody>
      </p:sp>
      <p:sp>
        <p:nvSpPr>
          <p:cNvPr id="8" name="Text 6"/>
          <p:cNvSpPr txBox="1"/>
          <p:nvPr/>
        </p:nvSpPr>
        <p:spPr>
          <a:xfrm>
            <a:off x="3108960" y="1691640"/>
            <a:ext cx="3291840" cy="603504"/>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No tirar la torre</a:t>
            </a:r>
            <a:endParaRPr lang="en-US" sz="1500" dirty="0"/>
          </a:p>
        </p:txBody>
      </p:sp>
      <p:sp>
        <p:nvSpPr>
          <p:cNvPr id="9" name="Text 7"/>
          <p:cNvSpPr txBox="1"/>
          <p:nvPr/>
        </p:nvSpPr>
        <p:spPr>
          <a:xfrm>
            <a:off x="6675120" y="1691640"/>
            <a:ext cx="4754880" cy="603504"/>
          </a:xfrm>
          <a:prstGeom prst="rect">
            <a:avLst/>
          </a:prstGeom>
          <a:noFill/>
          <a:ln/>
        </p:spPr>
        <p:txBody>
          <a:bodyPr wrap="square" lIns="0" tIns="0" rIns="0" bIns="0" rtlCol="0" anchor="ctr"/>
          <a:lstStyle/>
          <a:p>
            <a:pPr indent="0" marL="0">
              <a:buNone/>
            </a:pPr>
            <a:r>
              <a:rPr lang="en-US" sz="1500" b="1" dirty="0">
                <a:solidFill>
                  <a:srgbClr val="2A3247"/>
                </a:solidFill>
                <a:latin typeface="Calibri" pitchFamily="34" charset="0"/>
                <a:ea typeface="Calibri" pitchFamily="34" charset="-122"/>
                <a:cs typeface="Calibri" pitchFamily="34" charset="-120"/>
              </a:rPr>
              <a:t>Sumar la mayor cantidad de puntos</a:t>
            </a:r>
            <a:endParaRPr lang="en-US" sz="1500" dirty="0"/>
          </a:p>
        </p:txBody>
      </p:sp>
      <p:sp>
        <p:nvSpPr>
          <p:cNvPr id="10" name="Shape 8"/>
          <p:cNvSpPr/>
          <p:nvPr/>
        </p:nvSpPr>
        <p:spPr>
          <a:xfrm>
            <a:off x="6492240" y="2404872"/>
            <a:ext cx="5029200" cy="676656"/>
          </a:xfrm>
          <a:prstGeom prst="roundRect">
            <a:avLst>
              <a:gd name="adj" fmla="val 8108"/>
            </a:avLst>
          </a:prstGeom>
          <a:solidFill>
            <a:srgbClr val="F6EDE9"/>
          </a:solidFill>
          <a:ln w="12700">
            <a:solidFill>
              <a:srgbClr val="F6EDE9"/>
            </a:solidFill>
            <a:prstDash val="solid"/>
          </a:ln>
        </p:spPr>
      </p:sp>
      <p:sp>
        <p:nvSpPr>
          <p:cNvPr id="11" name="Text 9"/>
          <p:cNvSpPr txBox="1"/>
          <p:nvPr/>
        </p:nvSpPr>
        <p:spPr>
          <a:xfrm>
            <a:off x="640080" y="2478024"/>
            <a:ext cx="2377440" cy="603504"/>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Bloques</a:t>
            </a:r>
            <a:endParaRPr lang="en-US" sz="1500" dirty="0"/>
          </a:p>
        </p:txBody>
      </p:sp>
      <p:sp>
        <p:nvSpPr>
          <p:cNvPr id="12" name="Text 10"/>
          <p:cNvSpPr txBox="1"/>
          <p:nvPr/>
        </p:nvSpPr>
        <p:spPr>
          <a:xfrm>
            <a:off x="3108960" y="2478024"/>
            <a:ext cx="3291840" cy="603504"/>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Todos iguales</a:t>
            </a:r>
            <a:endParaRPr lang="en-US" sz="1500" dirty="0"/>
          </a:p>
        </p:txBody>
      </p:sp>
      <p:sp>
        <p:nvSpPr>
          <p:cNvPr id="13" name="Text 11"/>
          <p:cNvSpPr txBox="1"/>
          <p:nvPr/>
        </p:nvSpPr>
        <p:spPr>
          <a:xfrm>
            <a:off x="6675120" y="2478024"/>
            <a:ext cx="4754880" cy="603504"/>
          </a:xfrm>
          <a:prstGeom prst="rect">
            <a:avLst/>
          </a:prstGeom>
          <a:noFill/>
          <a:ln/>
        </p:spPr>
        <p:txBody>
          <a:bodyPr wrap="square" lIns="0" tIns="0" rIns="0" bIns="0" rtlCol="0" anchor="ctr"/>
          <a:lstStyle/>
          <a:p>
            <a:pPr indent="0" marL="0">
              <a:buNone/>
            </a:pPr>
            <a:r>
              <a:rPr lang="en-US" sz="1500" b="1" dirty="0">
                <a:solidFill>
                  <a:srgbClr val="2A3247"/>
                </a:solidFill>
                <a:latin typeface="Calibri" pitchFamily="34" charset="0"/>
                <a:ea typeface="Calibri" pitchFamily="34" charset="-122"/>
                <a:cs typeface="Calibri" pitchFamily="34" charset="-120"/>
              </a:rPr>
              <a:t>5 materias × 3 niveles</a:t>
            </a:r>
            <a:endParaRPr lang="en-US" sz="1500" dirty="0"/>
          </a:p>
        </p:txBody>
      </p:sp>
      <p:sp>
        <p:nvSpPr>
          <p:cNvPr id="14" name="Shape 12"/>
          <p:cNvSpPr/>
          <p:nvPr/>
        </p:nvSpPr>
        <p:spPr>
          <a:xfrm>
            <a:off x="6492240" y="3191256"/>
            <a:ext cx="5029200" cy="676656"/>
          </a:xfrm>
          <a:prstGeom prst="roundRect">
            <a:avLst>
              <a:gd name="adj" fmla="val 8108"/>
            </a:avLst>
          </a:prstGeom>
          <a:solidFill>
            <a:srgbClr val="F6EDE9"/>
          </a:solidFill>
          <a:ln w="12700">
            <a:solidFill>
              <a:srgbClr val="F6EDE9"/>
            </a:solidFill>
            <a:prstDash val="solid"/>
          </a:ln>
        </p:spPr>
      </p:sp>
      <p:sp>
        <p:nvSpPr>
          <p:cNvPr id="15" name="Text 13"/>
          <p:cNvSpPr txBox="1"/>
          <p:nvPr/>
        </p:nvSpPr>
        <p:spPr>
          <a:xfrm>
            <a:off x="640080" y="3264408"/>
            <a:ext cx="2377440" cy="603504"/>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Contenido</a:t>
            </a:r>
            <a:endParaRPr lang="en-US" sz="1500" dirty="0"/>
          </a:p>
        </p:txBody>
      </p:sp>
      <p:sp>
        <p:nvSpPr>
          <p:cNvPr id="16" name="Text 14"/>
          <p:cNvSpPr txBox="1"/>
          <p:nvPr/>
        </p:nvSpPr>
        <p:spPr>
          <a:xfrm>
            <a:off x="3108960" y="3264408"/>
            <a:ext cx="3291840" cy="603504"/>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Ninguno</a:t>
            </a:r>
            <a:endParaRPr lang="en-US" sz="1500" dirty="0"/>
          </a:p>
        </p:txBody>
      </p:sp>
      <p:sp>
        <p:nvSpPr>
          <p:cNvPr id="17" name="Text 15"/>
          <p:cNvSpPr txBox="1"/>
          <p:nvPr/>
        </p:nvSpPr>
        <p:spPr>
          <a:xfrm>
            <a:off x="6675120" y="3264408"/>
            <a:ext cx="4754880" cy="603504"/>
          </a:xfrm>
          <a:prstGeom prst="rect">
            <a:avLst/>
          </a:prstGeom>
          <a:noFill/>
          <a:ln/>
        </p:spPr>
        <p:txBody>
          <a:bodyPr wrap="square" lIns="0" tIns="0" rIns="0" bIns="0" rtlCol="0" anchor="ctr"/>
          <a:lstStyle/>
          <a:p>
            <a:pPr indent="0" marL="0">
              <a:buNone/>
            </a:pPr>
            <a:r>
              <a:rPr lang="en-US" sz="1500" b="1" dirty="0">
                <a:solidFill>
                  <a:srgbClr val="2A3247"/>
                </a:solidFill>
                <a:latin typeface="Calibri" pitchFamily="34" charset="0"/>
                <a:ea typeface="Calibri" pitchFamily="34" charset="-122"/>
                <a:cs typeface="Calibri" pitchFamily="34" charset="-120"/>
              </a:rPr>
              <a:t>60 preguntas de secundaria</a:t>
            </a:r>
            <a:endParaRPr lang="en-US" sz="1500" dirty="0"/>
          </a:p>
        </p:txBody>
      </p:sp>
      <p:sp>
        <p:nvSpPr>
          <p:cNvPr id="18" name="Shape 16"/>
          <p:cNvSpPr/>
          <p:nvPr/>
        </p:nvSpPr>
        <p:spPr>
          <a:xfrm>
            <a:off x="6492240" y="3977640"/>
            <a:ext cx="5029200" cy="676656"/>
          </a:xfrm>
          <a:prstGeom prst="roundRect">
            <a:avLst>
              <a:gd name="adj" fmla="val 8108"/>
            </a:avLst>
          </a:prstGeom>
          <a:solidFill>
            <a:srgbClr val="F6EDE9"/>
          </a:solidFill>
          <a:ln w="12700">
            <a:solidFill>
              <a:srgbClr val="F6EDE9"/>
            </a:solidFill>
            <a:prstDash val="solid"/>
          </a:ln>
        </p:spPr>
      </p:sp>
      <p:sp>
        <p:nvSpPr>
          <p:cNvPr id="19" name="Text 17"/>
          <p:cNvSpPr txBox="1"/>
          <p:nvPr/>
        </p:nvSpPr>
        <p:spPr>
          <a:xfrm>
            <a:off x="640080" y="4050792"/>
            <a:ext cx="2377440" cy="603504"/>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Habilidades</a:t>
            </a:r>
            <a:endParaRPr lang="en-US" sz="1500" dirty="0"/>
          </a:p>
        </p:txBody>
      </p:sp>
      <p:sp>
        <p:nvSpPr>
          <p:cNvPr id="20" name="Text 18"/>
          <p:cNvSpPr txBox="1"/>
          <p:nvPr/>
        </p:nvSpPr>
        <p:spPr>
          <a:xfrm>
            <a:off x="3108960" y="4050792"/>
            <a:ext cx="3291840" cy="603504"/>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Destreza manual</a:t>
            </a:r>
            <a:endParaRPr lang="en-US" sz="1500" dirty="0"/>
          </a:p>
        </p:txBody>
      </p:sp>
      <p:sp>
        <p:nvSpPr>
          <p:cNvPr id="21" name="Text 19"/>
          <p:cNvSpPr txBox="1"/>
          <p:nvPr/>
        </p:nvSpPr>
        <p:spPr>
          <a:xfrm>
            <a:off x="6675120" y="4050792"/>
            <a:ext cx="4754880" cy="603504"/>
          </a:xfrm>
          <a:prstGeom prst="rect">
            <a:avLst/>
          </a:prstGeom>
          <a:noFill/>
          <a:ln/>
        </p:spPr>
        <p:txBody>
          <a:bodyPr wrap="square" lIns="0" tIns="0" rIns="0" bIns="0" rtlCol="0" anchor="ctr"/>
          <a:lstStyle/>
          <a:p>
            <a:pPr indent="0" marL="0">
              <a:buNone/>
            </a:pPr>
            <a:r>
              <a:rPr lang="en-US" sz="1500" b="1" dirty="0">
                <a:solidFill>
                  <a:srgbClr val="2A3247"/>
                </a:solidFill>
                <a:latin typeface="Calibri" pitchFamily="34" charset="0"/>
                <a:ea typeface="Calibri" pitchFamily="34" charset="-122"/>
                <a:cs typeface="Calibri" pitchFamily="34" charset="-120"/>
              </a:rPr>
              <a:t>Destreza + conocimiento + estrategia</a:t>
            </a:r>
            <a:endParaRPr lang="en-US" sz="1500" dirty="0"/>
          </a:p>
        </p:txBody>
      </p:sp>
      <p:sp>
        <p:nvSpPr>
          <p:cNvPr id="22" name="Shape 20"/>
          <p:cNvSpPr/>
          <p:nvPr/>
        </p:nvSpPr>
        <p:spPr>
          <a:xfrm>
            <a:off x="6492240" y="4764024"/>
            <a:ext cx="5029200" cy="676656"/>
          </a:xfrm>
          <a:prstGeom prst="roundRect">
            <a:avLst>
              <a:gd name="adj" fmla="val 8108"/>
            </a:avLst>
          </a:prstGeom>
          <a:solidFill>
            <a:srgbClr val="F6EDE9"/>
          </a:solidFill>
          <a:ln w="12700">
            <a:solidFill>
              <a:srgbClr val="F6EDE9"/>
            </a:solidFill>
            <a:prstDash val="solid"/>
          </a:ln>
        </p:spPr>
      </p:sp>
      <p:sp>
        <p:nvSpPr>
          <p:cNvPr id="23" name="Text 21"/>
          <p:cNvSpPr txBox="1"/>
          <p:nvPr/>
        </p:nvSpPr>
        <p:spPr>
          <a:xfrm>
            <a:off x="640080" y="4837176"/>
            <a:ext cx="2377440" cy="603504"/>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El final</a:t>
            </a:r>
            <a:endParaRPr lang="en-US" sz="1500" dirty="0"/>
          </a:p>
        </p:txBody>
      </p:sp>
      <p:sp>
        <p:nvSpPr>
          <p:cNvPr id="24" name="Text 22"/>
          <p:cNvSpPr txBox="1"/>
          <p:nvPr/>
        </p:nvSpPr>
        <p:spPr>
          <a:xfrm>
            <a:off x="3108960" y="4837176"/>
            <a:ext cx="3291840" cy="603504"/>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Cae la torre</a:t>
            </a:r>
            <a:endParaRPr lang="en-US" sz="1500" dirty="0"/>
          </a:p>
        </p:txBody>
      </p:sp>
      <p:sp>
        <p:nvSpPr>
          <p:cNvPr id="25" name="Text 23"/>
          <p:cNvSpPr txBox="1"/>
          <p:nvPr/>
        </p:nvSpPr>
        <p:spPr>
          <a:xfrm>
            <a:off x="6675120" y="4837176"/>
            <a:ext cx="4754880" cy="603504"/>
          </a:xfrm>
          <a:prstGeom prst="rect">
            <a:avLst/>
          </a:prstGeom>
          <a:noFill/>
          <a:ln/>
        </p:spPr>
        <p:txBody>
          <a:bodyPr wrap="square" lIns="0" tIns="0" rIns="0" bIns="0" rtlCol="0" anchor="ctr"/>
          <a:lstStyle/>
          <a:p>
            <a:pPr indent="0" marL="0">
              <a:buNone/>
            </a:pPr>
            <a:r>
              <a:rPr lang="en-US" sz="1500" b="1" dirty="0">
                <a:solidFill>
                  <a:srgbClr val="2A3247"/>
                </a:solidFill>
                <a:latin typeface="Calibri" pitchFamily="34" charset="0"/>
                <a:ea typeface="Calibri" pitchFamily="34" charset="-122"/>
                <a:cs typeface="Calibri" pitchFamily="34" charset="-120"/>
              </a:rPr>
              <a:t>Cae la torre y se comparan los puntos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El bloque cuenta dos cosas</a:t>
            </a:r>
            <a:endParaRPr lang="en-US" sz="3800" dirty="0"/>
          </a:p>
        </p:txBody>
      </p:sp>
      <p:sp>
        <p:nvSpPr>
          <p:cNvPr id="3" name="Text 1"/>
          <p:cNvSpPr txBox="1"/>
          <p:nvPr/>
        </p:nvSpPr>
        <p:spPr>
          <a:xfrm>
            <a:off x="640080" y="1371600"/>
            <a:ext cx="10881360" cy="457200"/>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Sin leer un manual: el color dice la materia y las ranuras dicen cuánto vale.</a:t>
            </a:r>
            <a:endParaRPr lang="en-US" sz="1500" dirty="0"/>
          </a:p>
        </p:txBody>
      </p:sp>
      <p:pic>
        <p:nvPicPr>
          <p:cNvPr id="4" name="Image 0" descr="Tres bloques del juego, uno de cada nivel, con una, dos y tres ranuras">    </p:cNvPr>
          <p:cNvPicPr>
            <a:picLocks noChangeAspect="1"/>
          </p:cNvPicPr>
          <p:nvPr/>
        </p:nvPicPr>
        <p:blipFill>
          <a:blip r:embed="rId1"/>
          <a:stretch>
            <a:fillRect/>
          </a:stretch>
        </p:blipFill>
        <p:spPr>
          <a:xfrm>
            <a:off x="822960" y="1874520"/>
            <a:ext cx="10515600" cy="2690037"/>
          </a:xfrm>
          <a:prstGeom prst="rect">
            <a:avLst/>
          </a:prstGeom>
        </p:spPr>
      </p:pic>
      <p:sp>
        <p:nvSpPr>
          <p:cNvPr id="5" name="Text 2"/>
          <p:cNvSpPr txBox="1"/>
          <p:nvPr/>
        </p:nvSpPr>
        <p:spPr>
          <a:xfrm>
            <a:off x="822960" y="4709160"/>
            <a:ext cx="3291840" cy="365760"/>
          </a:xfrm>
          <a:prstGeom prst="rect">
            <a:avLst/>
          </a:prstGeom>
          <a:noFill/>
          <a:ln/>
        </p:spPr>
        <p:txBody>
          <a:bodyPr wrap="square" lIns="0" tIns="0" rIns="0" bIns="0" rtlCol="0" anchor="ctr"/>
          <a:lstStyle/>
          <a:p>
            <a:pPr algn="ctr" indent="0" marL="0">
              <a:buNone/>
            </a:pPr>
            <a:r>
              <a:rPr lang="en-US" sz="1700" b="1" dirty="0">
                <a:solidFill>
                  <a:srgbClr val="1A1A1A"/>
                </a:solidFill>
                <a:latin typeface="Calibri" pitchFamily="34" charset="0"/>
                <a:ea typeface="Calibri" pitchFamily="34" charset="-122"/>
                <a:cs typeface="Calibri" pitchFamily="34" charset="-120"/>
              </a:rPr>
              <a:t>1 ranura</a:t>
            </a:r>
            <a:endParaRPr lang="en-US" sz="1700" dirty="0"/>
          </a:p>
        </p:txBody>
      </p:sp>
      <p:sp>
        <p:nvSpPr>
          <p:cNvPr id="6" name="Text 3"/>
          <p:cNvSpPr txBox="1"/>
          <p:nvPr/>
        </p:nvSpPr>
        <p:spPr>
          <a:xfrm>
            <a:off x="822960" y="5074920"/>
            <a:ext cx="3291840" cy="320040"/>
          </a:xfrm>
          <a:prstGeom prst="rect">
            <a:avLst/>
          </a:prstGeom>
          <a:noFill/>
          <a:ln/>
        </p:spPr>
        <p:txBody>
          <a:bodyPr wrap="square" lIns="0" tIns="0" rIns="0" bIns="0" rtlCol="0" anchor="ctr"/>
          <a:lstStyle/>
          <a:p>
            <a:pPr algn="ctr" indent="0" marL="0">
              <a:buNone/>
            </a:pPr>
            <a:r>
              <a:rPr lang="en-US" sz="1300" dirty="0">
                <a:solidFill>
                  <a:srgbClr val="5A6070"/>
                </a:solidFill>
                <a:latin typeface="Calibri" pitchFamily="34" charset="0"/>
                <a:ea typeface="Calibri" pitchFamily="34" charset="-122"/>
                <a:cs typeface="Calibri" pitchFamily="34" charset="-120"/>
              </a:rPr>
              <a:t>pregunta fácil · 1 punto</a:t>
            </a:r>
            <a:endParaRPr lang="en-US" sz="1300" dirty="0"/>
          </a:p>
        </p:txBody>
      </p:sp>
      <p:sp>
        <p:nvSpPr>
          <p:cNvPr id="7" name="Text 4"/>
          <p:cNvSpPr txBox="1"/>
          <p:nvPr/>
        </p:nvSpPr>
        <p:spPr>
          <a:xfrm>
            <a:off x="4343400" y="4709160"/>
            <a:ext cx="3291840" cy="365760"/>
          </a:xfrm>
          <a:prstGeom prst="rect">
            <a:avLst/>
          </a:prstGeom>
          <a:noFill/>
          <a:ln/>
        </p:spPr>
        <p:txBody>
          <a:bodyPr wrap="square" lIns="0" tIns="0" rIns="0" bIns="0" rtlCol="0" anchor="ctr"/>
          <a:lstStyle/>
          <a:p>
            <a:pPr algn="ctr" indent="0" marL="0">
              <a:buNone/>
            </a:pPr>
            <a:r>
              <a:rPr lang="en-US" sz="1700" b="1" dirty="0">
                <a:solidFill>
                  <a:srgbClr val="1A1A1A"/>
                </a:solidFill>
                <a:latin typeface="Calibri" pitchFamily="34" charset="0"/>
                <a:ea typeface="Calibri" pitchFamily="34" charset="-122"/>
                <a:cs typeface="Calibri" pitchFamily="34" charset="-120"/>
              </a:rPr>
              <a:t>2 ranuras</a:t>
            </a:r>
            <a:endParaRPr lang="en-US" sz="1700" dirty="0"/>
          </a:p>
        </p:txBody>
      </p:sp>
      <p:sp>
        <p:nvSpPr>
          <p:cNvPr id="8" name="Text 5"/>
          <p:cNvSpPr txBox="1"/>
          <p:nvPr/>
        </p:nvSpPr>
        <p:spPr>
          <a:xfrm>
            <a:off x="4343400" y="5074920"/>
            <a:ext cx="3291840" cy="320040"/>
          </a:xfrm>
          <a:prstGeom prst="rect">
            <a:avLst/>
          </a:prstGeom>
          <a:noFill/>
          <a:ln/>
        </p:spPr>
        <p:txBody>
          <a:bodyPr wrap="square" lIns="0" tIns="0" rIns="0" bIns="0" rtlCol="0" anchor="ctr"/>
          <a:lstStyle/>
          <a:p>
            <a:pPr algn="ctr" indent="0" marL="0">
              <a:buNone/>
            </a:pPr>
            <a:r>
              <a:rPr lang="en-US" sz="1300" dirty="0">
                <a:solidFill>
                  <a:srgbClr val="5A6070"/>
                </a:solidFill>
                <a:latin typeface="Calibri" pitchFamily="34" charset="0"/>
                <a:ea typeface="Calibri" pitchFamily="34" charset="-122"/>
                <a:cs typeface="Calibri" pitchFamily="34" charset="-120"/>
              </a:rPr>
              <a:t>pregunta media · 2 puntos</a:t>
            </a:r>
            <a:endParaRPr lang="en-US" sz="1300" dirty="0"/>
          </a:p>
        </p:txBody>
      </p:sp>
      <p:sp>
        <p:nvSpPr>
          <p:cNvPr id="9" name="Text 6"/>
          <p:cNvSpPr txBox="1"/>
          <p:nvPr/>
        </p:nvSpPr>
        <p:spPr>
          <a:xfrm>
            <a:off x="7863840" y="4709160"/>
            <a:ext cx="3291840" cy="365760"/>
          </a:xfrm>
          <a:prstGeom prst="rect">
            <a:avLst/>
          </a:prstGeom>
          <a:noFill/>
          <a:ln/>
        </p:spPr>
        <p:txBody>
          <a:bodyPr wrap="square" lIns="0" tIns="0" rIns="0" bIns="0" rtlCol="0" anchor="ctr"/>
          <a:lstStyle/>
          <a:p>
            <a:pPr algn="ctr" indent="0" marL="0">
              <a:buNone/>
            </a:pPr>
            <a:r>
              <a:rPr lang="en-US" sz="1700" b="1" dirty="0">
                <a:solidFill>
                  <a:srgbClr val="1A1A1A"/>
                </a:solidFill>
                <a:latin typeface="Calibri" pitchFamily="34" charset="0"/>
                <a:ea typeface="Calibri" pitchFamily="34" charset="-122"/>
                <a:cs typeface="Calibri" pitchFamily="34" charset="-120"/>
              </a:rPr>
              <a:t>3 ranuras</a:t>
            </a:r>
            <a:endParaRPr lang="en-US" sz="1700" dirty="0"/>
          </a:p>
        </p:txBody>
      </p:sp>
      <p:sp>
        <p:nvSpPr>
          <p:cNvPr id="10" name="Text 7"/>
          <p:cNvSpPr txBox="1"/>
          <p:nvPr/>
        </p:nvSpPr>
        <p:spPr>
          <a:xfrm>
            <a:off x="7863840" y="5074920"/>
            <a:ext cx="3291840" cy="320040"/>
          </a:xfrm>
          <a:prstGeom prst="rect">
            <a:avLst/>
          </a:prstGeom>
          <a:noFill/>
          <a:ln/>
        </p:spPr>
        <p:txBody>
          <a:bodyPr wrap="square" lIns="0" tIns="0" rIns="0" bIns="0" rtlCol="0" anchor="ctr"/>
          <a:lstStyle/>
          <a:p>
            <a:pPr algn="ctr" indent="0" marL="0">
              <a:buNone/>
            </a:pPr>
            <a:r>
              <a:rPr lang="en-US" sz="1300" dirty="0">
                <a:solidFill>
                  <a:srgbClr val="5A6070"/>
                </a:solidFill>
                <a:latin typeface="Calibri" pitchFamily="34" charset="0"/>
                <a:ea typeface="Calibri" pitchFamily="34" charset="-122"/>
                <a:cs typeface="Calibri" pitchFamily="34" charset="-120"/>
              </a:rPr>
              <a:t>pregunta difícil · 3 puntos</a:t>
            </a:r>
            <a:endParaRPr lang="en-US" sz="1300" dirty="0"/>
          </a:p>
        </p:txBody>
      </p:sp>
      <p:sp>
        <p:nvSpPr>
          <p:cNvPr id="11" name="Shape 8"/>
          <p:cNvSpPr/>
          <p:nvPr/>
        </p:nvSpPr>
        <p:spPr>
          <a:xfrm>
            <a:off x="640080" y="5715000"/>
            <a:ext cx="10881360" cy="731520"/>
          </a:xfrm>
          <a:prstGeom prst="roundRect">
            <a:avLst>
              <a:gd name="adj" fmla="val 7500"/>
            </a:avLst>
          </a:prstGeom>
          <a:solidFill>
            <a:srgbClr val="F4F2EE"/>
          </a:solidFill>
          <a:ln w="12700">
            <a:solidFill>
              <a:srgbClr val="F4F2EE"/>
            </a:solidFill>
            <a:prstDash val="solid"/>
          </a:ln>
        </p:spPr>
      </p:sp>
      <p:sp>
        <p:nvSpPr>
          <p:cNvPr id="12" name="Text 9"/>
          <p:cNvSpPr txBox="1"/>
          <p:nvPr/>
        </p:nvSpPr>
        <p:spPr>
          <a:xfrm>
            <a:off x="914400" y="5715000"/>
            <a:ext cx="10332720" cy="731520"/>
          </a:xfrm>
          <a:prstGeom prst="rect">
            <a:avLst/>
          </a:prstGeom>
          <a:noFill/>
          <a:ln/>
        </p:spPr>
        <p:txBody>
          <a:bodyPr wrap="square" lIns="0" tIns="0" rIns="0" bIns="0" rtlCol="0" anchor="ctr"/>
          <a:lstStyle/>
          <a:p>
            <a:pPr indent="0" marL="0">
              <a:buNone/>
            </a:pPr>
            <a:r>
              <a:rPr lang="en-US" sz="1350" dirty="0">
                <a:solidFill>
                  <a:srgbClr val="5A6070"/>
                </a:solidFill>
                <a:latin typeface="Calibri" pitchFamily="34" charset="0"/>
                <a:ea typeface="Calibri" pitchFamily="34" charset="-122"/>
                <a:cs typeface="Calibri" pitchFamily="34" charset="-120"/>
              </a:rPr>
              <a:t>Las ranuras están hundidas, no salientes: nada sobresale que pueda desestabilizar el apilado. La inicial de la materia va grabada en las dos puntas.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Cinco materias, tres niveles</a:t>
            </a:r>
            <a:endParaRPr lang="en-US" sz="3800" dirty="0"/>
          </a:p>
        </p:txBody>
      </p:sp>
      <p:sp>
        <p:nvSpPr>
          <p:cNvPr id="3" name="Text 1"/>
          <p:cNvSpPr txBox="1"/>
          <p:nvPr/>
        </p:nvSpPr>
        <p:spPr>
          <a:xfrm>
            <a:off x="640080" y="1371600"/>
            <a:ext cx="10881360" cy="457200"/>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9 bloques y 12 preguntas por materia.</a:t>
            </a:r>
            <a:endParaRPr lang="en-US" sz="1500" dirty="0"/>
          </a:p>
        </p:txBody>
      </p:sp>
      <p:sp>
        <p:nvSpPr>
          <p:cNvPr id="4" name="Shape 2"/>
          <p:cNvSpPr/>
          <p:nvPr/>
        </p:nvSpPr>
        <p:spPr>
          <a:xfrm>
            <a:off x="640080" y="2057400"/>
            <a:ext cx="2011680" cy="2834640"/>
          </a:xfrm>
          <a:prstGeom prst="roundRect">
            <a:avLst>
              <a:gd name="adj" fmla="val 2727"/>
            </a:avLst>
          </a:prstGeom>
          <a:solidFill>
            <a:srgbClr val="F4F2EE"/>
          </a:solidFill>
          <a:ln w="12700">
            <a:solidFill>
              <a:srgbClr val="F4F2EE"/>
            </a:solidFill>
            <a:prstDash val="solid"/>
          </a:ln>
        </p:spPr>
      </p:sp>
      <p:sp>
        <p:nvSpPr>
          <p:cNvPr id="5" name="Shape 3"/>
          <p:cNvSpPr/>
          <p:nvPr/>
        </p:nvSpPr>
        <p:spPr>
          <a:xfrm>
            <a:off x="1298448" y="2377440"/>
            <a:ext cx="694944" cy="694944"/>
          </a:xfrm>
          <a:prstGeom prst="ellipse">
            <a:avLst/>
          </a:prstGeom>
          <a:solidFill>
            <a:srgbClr val="AA0000"/>
          </a:solidFill>
          <a:ln w="12700">
            <a:solidFill>
              <a:srgbClr val="AA0000"/>
            </a:solidFill>
            <a:prstDash val="solid"/>
          </a:ln>
        </p:spPr>
      </p:sp>
      <p:sp>
        <p:nvSpPr>
          <p:cNvPr id="6" name="Text 4"/>
          <p:cNvSpPr txBox="1"/>
          <p:nvPr/>
        </p:nvSpPr>
        <p:spPr>
          <a:xfrm>
            <a:off x="1298448" y="2377440"/>
            <a:ext cx="694944" cy="694944"/>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H</a:t>
            </a:r>
            <a:endParaRPr lang="en-US" sz="2400" dirty="0"/>
          </a:p>
        </p:txBody>
      </p:sp>
      <p:sp>
        <p:nvSpPr>
          <p:cNvPr id="7" name="Text 5"/>
          <p:cNvSpPr txBox="1"/>
          <p:nvPr/>
        </p:nvSpPr>
        <p:spPr>
          <a:xfrm>
            <a:off x="749808" y="3246120"/>
            <a:ext cx="1792224" cy="731520"/>
          </a:xfrm>
          <a:prstGeom prst="rect">
            <a:avLst/>
          </a:prstGeom>
          <a:noFill/>
          <a:ln/>
        </p:spPr>
        <p:txBody>
          <a:bodyPr wrap="square" lIns="0" tIns="0" rIns="0" bIns="0" rtlCol="0" anchor="t"/>
          <a:lstStyle/>
          <a:p>
            <a:pPr algn="ctr" indent="0" marL="0">
              <a:buNone/>
            </a:pPr>
            <a:r>
              <a:rPr lang="en-US" sz="1450" b="1" dirty="0">
                <a:solidFill>
                  <a:srgbClr val="1A1A1A"/>
                </a:solidFill>
                <a:latin typeface="Calibri" pitchFamily="34" charset="0"/>
                <a:ea typeface="Calibri" pitchFamily="34" charset="-122"/>
                <a:cs typeface="Calibri" pitchFamily="34" charset="-120"/>
              </a:rPr>
              <a:t>Historia</a:t>
            </a:r>
            <a:endParaRPr lang="en-US" sz="1450" dirty="0"/>
          </a:p>
        </p:txBody>
      </p:sp>
      <p:sp>
        <p:nvSpPr>
          <p:cNvPr id="8" name="Text 6"/>
          <p:cNvSpPr txBox="1"/>
          <p:nvPr/>
        </p:nvSpPr>
        <p:spPr>
          <a:xfrm>
            <a:off x="749808" y="4023360"/>
            <a:ext cx="1792224" cy="640080"/>
          </a:xfrm>
          <a:prstGeom prst="rect">
            <a:avLst/>
          </a:prstGeom>
          <a:noFill/>
          <a:ln/>
        </p:spPr>
        <p:txBody>
          <a:bodyPr wrap="square" lIns="0" tIns="0" rIns="0" bIns="0" rtlCol="0" anchor="ctr"/>
          <a:lstStyle/>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9 bloques</a:t>
            </a:r>
            <a:endParaRPr lang="en-US" sz="1250" dirty="0"/>
          </a:p>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12 preguntas</a:t>
            </a:r>
            <a:endParaRPr lang="en-US" sz="1250" dirty="0"/>
          </a:p>
        </p:txBody>
      </p:sp>
      <p:sp>
        <p:nvSpPr>
          <p:cNvPr id="9" name="Shape 7"/>
          <p:cNvSpPr/>
          <p:nvPr/>
        </p:nvSpPr>
        <p:spPr>
          <a:xfrm>
            <a:off x="2852928" y="2057400"/>
            <a:ext cx="2011680" cy="2834640"/>
          </a:xfrm>
          <a:prstGeom prst="roundRect">
            <a:avLst>
              <a:gd name="adj" fmla="val 2727"/>
            </a:avLst>
          </a:prstGeom>
          <a:solidFill>
            <a:srgbClr val="F4F2EE"/>
          </a:solidFill>
          <a:ln w="12700">
            <a:solidFill>
              <a:srgbClr val="F4F2EE"/>
            </a:solidFill>
            <a:prstDash val="solid"/>
          </a:ln>
        </p:spPr>
      </p:sp>
      <p:sp>
        <p:nvSpPr>
          <p:cNvPr id="10" name="Shape 8"/>
          <p:cNvSpPr/>
          <p:nvPr/>
        </p:nvSpPr>
        <p:spPr>
          <a:xfrm>
            <a:off x="3511296" y="2377440"/>
            <a:ext cx="694944" cy="694944"/>
          </a:xfrm>
          <a:prstGeom prst="ellipse">
            <a:avLst/>
          </a:prstGeom>
          <a:solidFill>
            <a:srgbClr val="006600"/>
          </a:solidFill>
          <a:ln w="12700">
            <a:solidFill>
              <a:srgbClr val="006600"/>
            </a:solidFill>
            <a:prstDash val="solid"/>
          </a:ln>
        </p:spPr>
      </p:sp>
      <p:sp>
        <p:nvSpPr>
          <p:cNvPr id="11" name="Text 9"/>
          <p:cNvSpPr txBox="1"/>
          <p:nvPr/>
        </p:nvSpPr>
        <p:spPr>
          <a:xfrm>
            <a:off x="3511296" y="2377440"/>
            <a:ext cx="694944" cy="694944"/>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G</a:t>
            </a:r>
            <a:endParaRPr lang="en-US" sz="2400" dirty="0"/>
          </a:p>
        </p:txBody>
      </p:sp>
      <p:sp>
        <p:nvSpPr>
          <p:cNvPr id="12" name="Text 10"/>
          <p:cNvSpPr txBox="1"/>
          <p:nvPr/>
        </p:nvSpPr>
        <p:spPr>
          <a:xfrm>
            <a:off x="2962656" y="3246120"/>
            <a:ext cx="1792224" cy="731520"/>
          </a:xfrm>
          <a:prstGeom prst="rect">
            <a:avLst/>
          </a:prstGeom>
          <a:noFill/>
          <a:ln/>
        </p:spPr>
        <p:txBody>
          <a:bodyPr wrap="square" lIns="0" tIns="0" rIns="0" bIns="0" rtlCol="0" anchor="t"/>
          <a:lstStyle/>
          <a:p>
            <a:pPr algn="ctr" indent="0" marL="0">
              <a:buNone/>
            </a:pPr>
            <a:r>
              <a:rPr lang="en-US" sz="1450" b="1" dirty="0">
                <a:solidFill>
                  <a:srgbClr val="1A1A1A"/>
                </a:solidFill>
                <a:latin typeface="Calibri" pitchFamily="34" charset="0"/>
                <a:ea typeface="Calibri" pitchFamily="34" charset="-122"/>
                <a:cs typeface="Calibri" pitchFamily="34" charset="-120"/>
              </a:rPr>
              <a:t>Geografía</a:t>
            </a:r>
            <a:endParaRPr lang="en-US" sz="1450" dirty="0"/>
          </a:p>
        </p:txBody>
      </p:sp>
      <p:sp>
        <p:nvSpPr>
          <p:cNvPr id="13" name="Text 11"/>
          <p:cNvSpPr txBox="1"/>
          <p:nvPr/>
        </p:nvSpPr>
        <p:spPr>
          <a:xfrm>
            <a:off x="2962656" y="4023360"/>
            <a:ext cx="1792224" cy="640080"/>
          </a:xfrm>
          <a:prstGeom prst="rect">
            <a:avLst/>
          </a:prstGeom>
          <a:noFill/>
          <a:ln/>
        </p:spPr>
        <p:txBody>
          <a:bodyPr wrap="square" lIns="0" tIns="0" rIns="0" bIns="0" rtlCol="0" anchor="ctr"/>
          <a:lstStyle/>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9 bloques</a:t>
            </a:r>
            <a:endParaRPr lang="en-US" sz="1250" dirty="0"/>
          </a:p>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12 preguntas</a:t>
            </a:r>
            <a:endParaRPr lang="en-US" sz="1250" dirty="0"/>
          </a:p>
        </p:txBody>
      </p:sp>
      <p:sp>
        <p:nvSpPr>
          <p:cNvPr id="14" name="Shape 12"/>
          <p:cNvSpPr/>
          <p:nvPr/>
        </p:nvSpPr>
        <p:spPr>
          <a:xfrm>
            <a:off x="5065776" y="2057400"/>
            <a:ext cx="2011680" cy="2834640"/>
          </a:xfrm>
          <a:prstGeom prst="roundRect">
            <a:avLst>
              <a:gd name="adj" fmla="val 2727"/>
            </a:avLst>
          </a:prstGeom>
          <a:solidFill>
            <a:srgbClr val="F4F2EE"/>
          </a:solidFill>
          <a:ln w="12700">
            <a:solidFill>
              <a:srgbClr val="F4F2EE"/>
            </a:solidFill>
            <a:prstDash val="solid"/>
          </a:ln>
        </p:spPr>
      </p:sp>
      <p:sp>
        <p:nvSpPr>
          <p:cNvPr id="15" name="Shape 13"/>
          <p:cNvSpPr/>
          <p:nvPr/>
        </p:nvSpPr>
        <p:spPr>
          <a:xfrm>
            <a:off x="5724144" y="2377440"/>
            <a:ext cx="694944" cy="694944"/>
          </a:xfrm>
          <a:prstGeom prst="ellipse">
            <a:avLst/>
          </a:prstGeom>
          <a:solidFill>
            <a:srgbClr val="004488"/>
          </a:solidFill>
          <a:ln w="12700">
            <a:solidFill>
              <a:srgbClr val="004488"/>
            </a:solidFill>
            <a:prstDash val="solid"/>
          </a:ln>
        </p:spPr>
      </p:sp>
      <p:sp>
        <p:nvSpPr>
          <p:cNvPr id="16" name="Text 14"/>
          <p:cNvSpPr txBox="1"/>
          <p:nvPr/>
        </p:nvSpPr>
        <p:spPr>
          <a:xfrm>
            <a:off x="5724144" y="2377440"/>
            <a:ext cx="694944" cy="694944"/>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t>
            </a:r>
            <a:endParaRPr lang="en-US" sz="2400" dirty="0"/>
          </a:p>
        </p:txBody>
      </p:sp>
      <p:sp>
        <p:nvSpPr>
          <p:cNvPr id="17" name="Text 15"/>
          <p:cNvSpPr txBox="1"/>
          <p:nvPr/>
        </p:nvSpPr>
        <p:spPr>
          <a:xfrm>
            <a:off x="5175504" y="3246120"/>
            <a:ext cx="1792224" cy="731520"/>
          </a:xfrm>
          <a:prstGeom prst="rect">
            <a:avLst/>
          </a:prstGeom>
          <a:noFill/>
          <a:ln/>
        </p:spPr>
        <p:txBody>
          <a:bodyPr wrap="square" lIns="0" tIns="0" rIns="0" bIns="0" rtlCol="0" anchor="t"/>
          <a:lstStyle/>
          <a:p>
            <a:pPr algn="ctr" indent="0" marL="0">
              <a:buNone/>
            </a:pPr>
            <a:r>
              <a:rPr lang="en-US" sz="1450" b="1" dirty="0">
                <a:solidFill>
                  <a:srgbClr val="1A1A1A"/>
                </a:solidFill>
                <a:latin typeface="Calibri" pitchFamily="34" charset="0"/>
                <a:ea typeface="Calibri" pitchFamily="34" charset="-122"/>
                <a:cs typeface="Calibri" pitchFamily="34" charset="-120"/>
              </a:rPr>
              <a:t>Ciencias Naturales</a:t>
            </a:r>
            <a:endParaRPr lang="en-US" sz="1450" dirty="0"/>
          </a:p>
        </p:txBody>
      </p:sp>
      <p:sp>
        <p:nvSpPr>
          <p:cNvPr id="18" name="Text 16"/>
          <p:cNvSpPr txBox="1"/>
          <p:nvPr/>
        </p:nvSpPr>
        <p:spPr>
          <a:xfrm>
            <a:off x="5175504" y="4023360"/>
            <a:ext cx="1792224" cy="640080"/>
          </a:xfrm>
          <a:prstGeom prst="rect">
            <a:avLst/>
          </a:prstGeom>
          <a:noFill/>
          <a:ln/>
        </p:spPr>
        <p:txBody>
          <a:bodyPr wrap="square" lIns="0" tIns="0" rIns="0" bIns="0" rtlCol="0" anchor="ctr"/>
          <a:lstStyle/>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9 bloques</a:t>
            </a:r>
            <a:endParaRPr lang="en-US" sz="1250" dirty="0"/>
          </a:p>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12 preguntas</a:t>
            </a:r>
            <a:endParaRPr lang="en-US" sz="1250" dirty="0"/>
          </a:p>
        </p:txBody>
      </p:sp>
      <p:sp>
        <p:nvSpPr>
          <p:cNvPr id="19" name="Shape 17"/>
          <p:cNvSpPr/>
          <p:nvPr/>
        </p:nvSpPr>
        <p:spPr>
          <a:xfrm>
            <a:off x="7278624" y="2057400"/>
            <a:ext cx="2011680" cy="2834640"/>
          </a:xfrm>
          <a:prstGeom prst="roundRect">
            <a:avLst>
              <a:gd name="adj" fmla="val 2727"/>
            </a:avLst>
          </a:prstGeom>
          <a:solidFill>
            <a:srgbClr val="F4F2EE"/>
          </a:solidFill>
          <a:ln w="12700">
            <a:solidFill>
              <a:srgbClr val="F4F2EE"/>
            </a:solidFill>
            <a:prstDash val="solid"/>
          </a:ln>
        </p:spPr>
      </p:sp>
      <p:sp>
        <p:nvSpPr>
          <p:cNvPr id="20" name="Shape 18"/>
          <p:cNvSpPr/>
          <p:nvPr/>
        </p:nvSpPr>
        <p:spPr>
          <a:xfrm>
            <a:off x="7936992" y="2377440"/>
            <a:ext cx="694944" cy="694944"/>
          </a:xfrm>
          <a:prstGeom prst="ellipse">
            <a:avLst/>
          </a:prstGeom>
          <a:solidFill>
            <a:srgbClr val="551188"/>
          </a:solidFill>
          <a:ln w="12700">
            <a:solidFill>
              <a:srgbClr val="551188"/>
            </a:solidFill>
            <a:prstDash val="solid"/>
          </a:ln>
        </p:spPr>
      </p:sp>
      <p:sp>
        <p:nvSpPr>
          <p:cNvPr id="21" name="Text 19"/>
          <p:cNvSpPr txBox="1"/>
          <p:nvPr/>
        </p:nvSpPr>
        <p:spPr>
          <a:xfrm>
            <a:off x="7936992" y="2377440"/>
            <a:ext cx="694944" cy="694944"/>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L</a:t>
            </a:r>
            <a:endParaRPr lang="en-US" sz="2400" dirty="0"/>
          </a:p>
        </p:txBody>
      </p:sp>
      <p:sp>
        <p:nvSpPr>
          <p:cNvPr id="22" name="Text 20"/>
          <p:cNvSpPr txBox="1"/>
          <p:nvPr/>
        </p:nvSpPr>
        <p:spPr>
          <a:xfrm>
            <a:off x="7388352" y="3246120"/>
            <a:ext cx="1792224" cy="731520"/>
          </a:xfrm>
          <a:prstGeom prst="rect">
            <a:avLst/>
          </a:prstGeom>
          <a:noFill/>
          <a:ln/>
        </p:spPr>
        <p:txBody>
          <a:bodyPr wrap="square" lIns="0" tIns="0" rIns="0" bIns="0" rtlCol="0" anchor="t"/>
          <a:lstStyle/>
          <a:p>
            <a:pPr algn="ctr" indent="0" marL="0">
              <a:buNone/>
            </a:pPr>
            <a:r>
              <a:rPr lang="en-US" sz="1450" b="1" dirty="0">
                <a:solidFill>
                  <a:srgbClr val="1A1A1A"/>
                </a:solidFill>
                <a:latin typeface="Calibri" pitchFamily="34" charset="0"/>
                <a:ea typeface="Calibri" pitchFamily="34" charset="-122"/>
                <a:cs typeface="Calibri" pitchFamily="34" charset="-120"/>
              </a:rPr>
              <a:t>Lengua y Literatura</a:t>
            </a:r>
            <a:endParaRPr lang="en-US" sz="1450" dirty="0"/>
          </a:p>
        </p:txBody>
      </p:sp>
      <p:sp>
        <p:nvSpPr>
          <p:cNvPr id="23" name="Text 21"/>
          <p:cNvSpPr txBox="1"/>
          <p:nvPr/>
        </p:nvSpPr>
        <p:spPr>
          <a:xfrm>
            <a:off x="7388352" y="4023360"/>
            <a:ext cx="1792224" cy="640080"/>
          </a:xfrm>
          <a:prstGeom prst="rect">
            <a:avLst/>
          </a:prstGeom>
          <a:noFill/>
          <a:ln/>
        </p:spPr>
        <p:txBody>
          <a:bodyPr wrap="square" lIns="0" tIns="0" rIns="0" bIns="0" rtlCol="0" anchor="ctr"/>
          <a:lstStyle/>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9 bloques</a:t>
            </a:r>
            <a:endParaRPr lang="en-US" sz="1250" dirty="0"/>
          </a:p>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12 preguntas</a:t>
            </a:r>
            <a:endParaRPr lang="en-US" sz="1250" dirty="0"/>
          </a:p>
        </p:txBody>
      </p:sp>
      <p:sp>
        <p:nvSpPr>
          <p:cNvPr id="24" name="Shape 22"/>
          <p:cNvSpPr/>
          <p:nvPr/>
        </p:nvSpPr>
        <p:spPr>
          <a:xfrm>
            <a:off x="9491472" y="2057400"/>
            <a:ext cx="2011680" cy="2834640"/>
          </a:xfrm>
          <a:prstGeom prst="roundRect">
            <a:avLst>
              <a:gd name="adj" fmla="val 2727"/>
            </a:avLst>
          </a:prstGeom>
          <a:solidFill>
            <a:srgbClr val="F4F2EE"/>
          </a:solidFill>
          <a:ln w="12700">
            <a:solidFill>
              <a:srgbClr val="F4F2EE"/>
            </a:solidFill>
            <a:prstDash val="solid"/>
          </a:ln>
        </p:spPr>
      </p:sp>
      <p:sp>
        <p:nvSpPr>
          <p:cNvPr id="25" name="Shape 23"/>
          <p:cNvSpPr/>
          <p:nvPr/>
        </p:nvSpPr>
        <p:spPr>
          <a:xfrm>
            <a:off x="10149840" y="2377440"/>
            <a:ext cx="694944" cy="694944"/>
          </a:xfrm>
          <a:prstGeom prst="ellipse">
            <a:avLst/>
          </a:prstGeom>
          <a:solidFill>
            <a:srgbClr val="BB4400"/>
          </a:solidFill>
          <a:ln w="12700">
            <a:solidFill>
              <a:srgbClr val="BB4400"/>
            </a:solidFill>
            <a:prstDash val="solid"/>
          </a:ln>
        </p:spPr>
      </p:sp>
      <p:sp>
        <p:nvSpPr>
          <p:cNvPr id="26" name="Text 24"/>
          <p:cNvSpPr txBox="1"/>
          <p:nvPr/>
        </p:nvSpPr>
        <p:spPr>
          <a:xfrm>
            <a:off x="10149840" y="2377440"/>
            <a:ext cx="694944" cy="694944"/>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E</a:t>
            </a:r>
            <a:endParaRPr lang="en-US" sz="2400" dirty="0"/>
          </a:p>
        </p:txBody>
      </p:sp>
      <p:sp>
        <p:nvSpPr>
          <p:cNvPr id="27" name="Text 25"/>
          <p:cNvSpPr txBox="1"/>
          <p:nvPr/>
        </p:nvSpPr>
        <p:spPr>
          <a:xfrm>
            <a:off x="9601200" y="3246120"/>
            <a:ext cx="1792224" cy="731520"/>
          </a:xfrm>
          <a:prstGeom prst="rect">
            <a:avLst/>
          </a:prstGeom>
          <a:noFill/>
          <a:ln/>
        </p:spPr>
        <p:txBody>
          <a:bodyPr wrap="square" lIns="0" tIns="0" rIns="0" bIns="0" rtlCol="0" anchor="t"/>
          <a:lstStyle/>
          <a:p>
            <a:pPr algn="ctr" indent="0" marL="0">
              <a:buNone/>
            </a:pPr>
            <a:r>
              <a:rPr lang="en-US" sz="1450" b="1" dirty="0">
                <a:solidFill>
                  <a:srgbClr val="1A1A1A"/>
                </a:solidFill>
                <a:latin typeface="Calibri" pitchFamily="34" charset="0"/>
                <a:ea typeface="Calibri" pitchFamily="34" charset="-122"/>
                <a:cs typeface="Calibri" pitchFamily="34" charset="-120"/>
              </a:rPr>
              <a:t>Educación Cívica</a:t>
            </a:r>
            <a:endParaRPr lang="en-US" sz="1450" dirty="0"/>
          </a:p>
        </p:txBody>
      </p:sp>
      <p:sp>
        <p:nvSpPr>
          <p:cNvPr id="28" name="Text 26"/>
          <p:cNvSpPr txBox="1"/>
          <p:nvPr/>
        </p:nvSpPr>
        <p:spPr>
          <a:xfrm>
            <a:off x="9601200" y="4023360"/>
            <a:ext cx="1792224" cy="640080"/>
          </a:xfrm>
          <a:prstGeom prst="rect">
            <a:avLst/>
          </a:prstGeom>
          <a:noFill/>
          <a:ln/>
        </p:spPr>
        <p:txBody>
          <a:bodyPr wrap="square" lIns="0" tIns="0" rIns="0" bIns="0" rtlCol="0" anchor="ctr"/>
          <a:lstStyle/>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9 bloques</a:t>
            </a:r>
            <a:endParaRPr lang="en-US" sz="1250" dirty="0"/>
          </a:p>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12 preguntas</a:t>
            </a:r>
            <a:endParaRPr lang="en-US" sz="1250" dirty="0"/>
          </a:p>
        </p:txBody>
      </p:sp>
      <p:sp>
        <p:nvSpPr>
          <p:cNvPr id="29" name="Text 27"/>
          <p:cNvSpPr txBox="1"/>
          <p:nvPr/>
        </p:nvSpPr>
        <p:spPr>
          <a:xfrm>
            <a:off x="640080" y="5257800"/>
            <a:ext cx="10881360" cy="822960"/>
          </a:xfrm>
          <a:prstGeom prst="rect">
            <a:avLst/>
          </a:prstGeom>
          <a:noFill/>
          <a:ln/>
        </p:spPr>
        <p:txBody>
          <a:bodyPr wrap="square" lIns="0" tIns="0" rIns="0" bIns="0" rtlCol="0" anchor="ctr"/>
          <a:lstStyle/>
          <a:p>
            <a:pPr indent="0" marL="0">
              <a:lnSpc>
                <a:spcPts val="2100"/>
              </a:lnSpc>
              <a:buNone/>
            </a:pPr>
            <a:r>
              <a:rPr lang="en-US" sz="1400" dirty="0">
                <a:solidFill>
                  <a:srgbClr val="5A6070"/>
                </a:solidFill>
                <a:latin typeface="Calibri" pitchFamily="34" charset="0"/>
                <a:ea typeface="Calibri" pitchFamily="34" charset="-122"/>
                <a:cs typeface="Calibri" pitchFamily="34" charset="-120"/>
              </a:rPr>
              <a:t>Cada materia usa un color con tres saturaciones, una por nivel. Si se imprime todo de un solo color el juego sigue funcionando, porque el nivel se lee en las ranuras y la materia en la letra grabada.</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Cómo se juega un turno</a:t>
            </a:r>
            <a:endParaRPr lang="en-US" sz="3800" dirty="0"/>
          </a:p>
        </p:txBody>
      </p:sp>
      <p:sp>
        <p:nvSpPr>
          <p:cNvPr id="3" name="Shape 1"/>
          <p:cNvSpPr/>
          <p:nvPr/>
        </p:nvSpPr>
        <p:spPr>
          <a:xfrm>
            <a:off x="640080" y="1645920"/>
            <a:ext cx="3474720" cy="1828800"/>
          </a:xfrm>
          <a:prstGeom prst="roundRect">
            <a:avLst>
              <a:gd name="adj" fmla="val 3000"/>
            </a:avLst>
          </a:prstGeom>
          <a:solidFill>
            <a:srgbClr val="F4F2EE"/>
          </a:solidFill>
          <a:ln w="12700">
            <a:solidFill>
              <a:srgbClr val="F4F2EE"/>
            </a:solidFill>
            <a:prstDash val="solid"/>
          </a:ln>
        </p:spPr>
      </p:sp>
      <p:sp>
        <p:nvSpPr>
          <p:cNvPr id="4" name="Shape 2"/>
          <p:cNvSpPr/>
          <p:nvPr/>
        </p:nvSpPr>
        <p:spPr>
          <a:xfrm>
            <a:off x="914400" y="1920240"/>
            <a:ext cx="566928" cy="566928"/>
          </a:xfrm>
          <a:prstGeom prst="ellipse">
            <a:avLst/>
          </a:prstGeom>
          <a:solidFill>
            <a:srgbClr val="C24A2F"/>
          </a:solidFill>
          <a:ln w="12700">
            <a:solidFill>
              <a:srgbClr val="C24A2F"/>
            </a:solidFill>
            <a:prstDash val="solid"/>
          </a:ln>
        </p:spPr>
      </p:sp>
      <p:sp>
        <p:nvSpPr>
          <p:cNvPr id="5" name="Text 3"/>
          <p:cNvSpPr txBox="1"/>
          <p:nvPr/>
        </p:nvSpPr>
        <p:spPr>
          <a:xfrm>
            <a:off x="914400" y="192024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6" name="Text 4"/>
          <p:cNvSpPr txBox="1"/>
          <p:nvPr/>
        </p:nvSpPr>
        <p:spPr>
          <a:xfrm>
            <a:off x="1600200" y="1956816"/>
            <a:ext cx="2377440" cy="411480"/>
          </a:xfrm>
          <a:prstGeom prst="rect">
            <a:avLst/>
          </a:prstGeom>
          <a:noFill/>
          <a:ln/>
        </p:spPr>
        <p:txBody>
          <a:bodyPr wrap="square" lIns="0" tIns="0" rIns="0" bIns="0" rtlCol="0" anchor="ctr"/>
          <a:lstStyle/>
          <a:p>
            <a:pPr indent="0" marL="0">
              <a:buNone/>
            </a:pPr>
            <a:r>
              <a:rPr lang="en-US" sz="1650" b="1" dirty="0">
                <a:solidFill>
                  <a:srgbClr val="1A1A1A"/>
                </a:solidFill>
                <a:latin typeface="Calibri" pitchFamily="34" charset="0"/>
                <a:ea typeface="Calibri" pitchFamily="34" charset="-122"/>
                <a:cs typeface="Calibri" pitchFamily="34" charset="-120"/>
              </a:rPr>
              <a:t>Sacá un bloque</a:t>
            </a:r>
            <a:endParaRPr lang="en-US" sz="1650" dirty="0"/>
          </a:p>
        </p:txBody>
      </p:sp>
      <p:sp>
        <p:nvSpPr>
          <p:cNvPr id="7" name="Text 5"/>
          <p:cNvSpPr txBox="1"/>
          <p:nvPr/>
        </p:nvSpPr>
        <p:spPr>
          <a:xfrm>
            <a:off x="914400" y="2560320"/>
            <a:ext cx="2926080" cy="77724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Con una sola mano, como en el Jenga común.</a:t>
            </a:r>
            <a:endParaRPr lang="en-US" sz="1350" dirty="0"/>
          </a:p>
        </p:txBody>
      </p:sp>
      <p:sp>
        <p:nvSpPr>
          <p:cNvPr id="8" name="Shape 6"/>
          <p:cNvSpPr/>
          <p:nvPr/>
        </p:nvSpPr>
        <p:spPr>
          <a:xfrm>
            <a:off x="4343400" y="1645920"/>
            <a:ext cx="3474720" cy="1828800"/>
          </a:xfrm>
          <a:prstGeom prst="roundRect">
            <a:avLst>
              <a:gd name="adj" fmla="val 3000"/>
            </a:avLst>
          </a:prstGeom>
          <a:solidFill>
            <a:srgbClr val="F4F2EE"/>
          </a:solidFill>
          <a:ln w="12700">
            <a:solidFill>
              <a:srgbClr val="F4F2EE"/>
            </a:solidFill>
            <a:prstDash val="solid"/>
          </a:ln>
        </p:spPr>
      </p:sp>
      <p:sp>
        <p:nvSpPr>
          <p:cNvPr id="9" name="Shape 7"/>
          <p:cNvSpPr/>
          <p:nvPr/>
        </p:nvSpPr>
        <p:spPr>
          <a:xfrm>
            <a:off x="4617720" y="1920240"/>
            <a:ext cx="566928" cy="566928"/>
          </a:xfrm>
          <a:prstGeom prst="ellipse">
            <a:avLst/>
          </a:prstGeom>
          <a:solidFill>
            <a:srgbClr val="C24A2F"/>
          </a:solidFill>
          <a:ln w="12700">
            <a:solidFill>
              <a:srgbClr val="C24A2F"/>
            </a:solidFill>
            <a:prstDash val="solid"/>
          </a:ln>
        </p:spPr>
      </p:sp>
      <p:sp>
        <p:nvSpPr>
          <p:cNvPr id="10" name="Text 8"/>
          <p:cNvSpPr txBox="1"/>
          <p:nvPr/>
        </p:nvSpPr>
        <p:spPr>
          <a:xfrm>
            <a:off x="4617720" y="192024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1" name="Text 9"/>
          <p:cNvSpPr txBox="1"/>
          <p:nvPr/>
        </p:nvSpPr>
        <p:spPr>
          <a:xfrm>
            <a:off x="5303520" y="1956816"/>
            <a:ext cx="2377440" cy="411480"/>
          </a:xfrm>
          <a:prstGeom prst="rect">
            <a:avLst/>
          </a:prstGeom>
          <a:noFill/>
          <a:ln/>
        </p:spPr>
        <p:txBody>
          <a:bodyPr wrap="square" lIns="0" tIns="0" rIns="0" bIns="0" rtlCol="0" anchor="ctr"/>
          <a:lstStyle/>
          <a:p>
            <a:pPr indent="0" marL="0">
              <a:buNone/>
            </a:pPr>
            <a:r>
              <a:rPr lang="en-US" sz="1650" b="1" dirty="0">
                <a:solidFill>
                  <a:srgbClr val="1A1A1A"/>
                </a:solidFill>
                <a:latin typeface="Calibri" pitchFamily="34" charset="0"/>
                <a:ea typeface="Calibri" pitchFamily="34" charset="-122"/>
                <a:cs typeface="Calibri" pitchFamily="34" charset="-120"/>
              </a:rPr>
              <a:t>Miralo</a:t>
            </a:r>
            <a:endParaRPr lang="en-US" sz="1650" dirty="0"/>
          </a:p>
        </p:txBody>
      </p:sp>
      <p:sp>
        <p:nvSpPr>
          <p:cNvPr id="12" name="Text 10"/>
          <p:cNvSpPr txBox="1"/>
          <p:nvPr/>
        </p:nvSpPr>
        <p:spPr>
          <a:xfrm>
            <a:off x="4617720" y="2560320"/>
            <a:ext cx="2926080" cy="77724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El color te dice la materia; las ranuras, el nivel.</a:t>
            </a:r>
            <a:endParaRPr lang="en-US" sz="1350" dirty="0"/>
          </a:p>
        </p:txBody>
      </p:sp>
      <p:sp>
        <p:nvSpPr>
          <p:cNvPr id="13" name="Shape 11"/>
          <p:cNvSpPr/>
          <p:nvPr/>
        </p:nvSpPr>
        <p:spPr>
          <a:xfrm>
            <a:off x="8046720" y="1645920"/>
            <a:ext cx="3474720" cy="1828800"/>
          </a:xfrm>
          <a:prstGeom prst="roundRect">
            <a:avLst>
              <a:gd name="adj" fmla="val 3000"/>
            </a:avLst>
          </a:prstGeom>
          <a:solidFill>
            <a:srgbClr val="F4F2EE"/>
          </a:solidFill>
          <a:ln w="12700">
            <a:solidFill>
              <a:srgbClr val="F4F2EE"/>
            </a:solidFill>
            <a:prstDash val="solid"/>
          </a:ln>
        </p:spPr>
      </p:sp>
      <p:sp>
        <p:nvSpPr>
          <p:cNvPr id="14" name="Shape 12"/>
          <p:cNvSpPr/>
          <p:nvPr/>
        </p:nvSpPr>
        <p:spPr>
          <a:xfrm>
            <a:off x="8321040" y="1920240"/>
            <a:ext cx="566928" cy="566928"/>
          </a:xfrm>
          <a:prstGeom prst="ellipse">
            <a:avLst/>
          </a:prstGeom>
          <a:solidFill>
            <a:srgbClr val="C24A2F"/>
          </a:solidFill>
          <a:ln w="12700">
            <a:solidFill>
              <a:srgbClr val="C24A2F"/>
            </a:solidFill>
            <a:prstDash val="solid"/>
          </a:ln>
        </p:spPr>
      </p:sp>
      <p:sp>
        <p:nvSpPr>
          <p:cNvPr id="15" name="Text 13"/>
          <p:cNvSpPr txBox="1"/>
          <p:nvPr/>
        </p:nvSpPr>
        <p:spPr>
          <a:xfrm>
            <a:off x="8321040" y="192024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6" name="Text 14"/>
          <p:cNvSpPr txBox="1"/>
          <p:nvPr/>
        </p:nvSpPr>
        <p:spPr>
          <a:xfrm>
            <a:off x="9006840" y="1956816"/>
            <a:ext cx="2377440" cy="411480"/>
          </a:xfrm>
          <a:prstGeom prst="rect">
            <a:avLst/>
          </a:prstGeom>
          <a:noFill/>
          <a:ln/>
        </p:spPr>
        <p:txBody>
          <a:bodyPr wrap="square" lIns="0" tIns="0" rIns="0" bIns="0" rtlCol="0" anchor="ctr"/>
          <a:lstStyle/>
          <a:p>
            <a:pPr indent="0" marL="0">
              <a:buNone/>
            </a:pPr>
            <a:r>
              <a:rPr lang="en-US" sz="1650" b="1" dirty="0">
                <a:solidFill>
                  <a:srgbClr val="1A1A1A"/>
                </a:solidFill>
                <a:latin typeface="Calibri" pitchFamily="34" charset="0"/>
                <a:ea typeface="Calibri" pitchFamily="34" charset="-122"/>
                <a:cs typeface="Calibri" pitchFamily="34" charset="-120"/>
              </a:rPr>
              <a:t>Pedí la carta</a:t>
            </a:r>
            <a:endParaRPr lang="en-US" sz="1650" dirty="0"/>
          </a:p>
        </p:txBody>
      </p:sp>
      <p:sp>
        <p:nvSpPr>
          <p:cNvPr id="17" name="Text 15"/>
          <p:cNvSpPr txBox="1"/>
          <p:nvPr/>
        </p:nvSpPr>
        <p:spPr>
          <a:xfrm>
            <a:off x="8321040" y="2560320"/>
            <a:ext cx="2926080" cy="77724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El de tu izquierda saca una carta de ese mazo y la lee.</a:t>
            </a:r>
            <a:endParaRPr lang="en-US" sz="1350" dirty="0"/>
          </a:p>
        </p:txBody>
      </p:sp>
      <p:sp>
        <p:nvSpPr>
          <p:cNvPr id="18" name="Shape 16"/>
          <p:cNvSpPr/>
          <p:nvPr/>
        </p:nvSpPr>
        <p:spPr>
          <a:xfrm>
            <a:off x="640080" y="3794760"/>
            <a:ext cx="3474720" cy="1828800"/>
          </a:xfrm>
          <a:prstGeom prst="roundRect">
            <a:avLst>
              <a:gd name="adj" fmla="val 3000"/>
            </a:avLst>
          </a:prstGeom>
          <a:solidFill>
            <a:srgbClr val="F4F2EE"/>
          </a:solidFill>
          <a:ln w="12700">
            <a:solidFill>
              <a:srgbClr val="F4F2EE"/>
            </a:solidFill>
            <a:prstDash val="solid"/>
          </a:ln>
        </p:spPr>
      </p:sp>
      <p:sp>
        <p:nvSpPr>
          <p:cNvPr id="19" name="Shape 17"/>
          <p:cNvSpPr/>
          <p:nvPr/>
        </p:nvSpPr>
        <p:spPr>
          <a:xfrm>
            <a:off x="914400" y="4069080"/>
            <a:ext cx="566928" cy="566928"/>
          </a:xfrm>
          <a:prstGeom prst="ellipse">
            <a:avLst/>
          </a:prstGeom>
          <a:solidFill>
            <a:srgbClr val="C24A2F"/>
          </a:solidFill>
          <a:ln w="12700">
            <a:solidFill>
              <a:srgbClr val="C24A2F"/>
            </a:solidFill>
            <a:prstDash val="solid"/>
          </a:ln>
        </p:spPr>
      </p:sp>
      <p:sp>
        <p:nvSpPr>
          <p:cNvPr id="20" name="Text 18"/>
          <p:cNvSpPr txBox="1"/>
          <p:nvPr/>
        </p:nvSpPr>
        <p:spPr>
          <a:xfrm>
            <a:off x="914400" y="406908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21" name="Text 19"/>
          <p:cNvSpPr txBox="1"/>
          <p:nvPr/>
        </p:nvSpPr>
        <p:spPr>
          <a:xfrm>
            <a:off x="1600200" y="4105656"/>
            <a:ext cx="2377440" cy="411480"/>
          </a:xfrm>
          <a:prstGeom prst="rect">
            <a:avLst/>
          </a:prstGeom>
          <a:noFill/>
          <a:ln/>
        </p:spPr>
        <p:txBody>
          <a:bodyPr wrap="square" lIns="0" tIns="0" rIns="0" bIns="0" rtlCol="0" anchor="ctr"/>
          <a:lstStyle/>
          <a:p>
            <a:pPr indent="0" marL="0">
              <a:buNone/>
            </a:pPr>
            <a:r>
              <a:rPr lang="en-US" sz="1650" b="1" dirty="0">
                <a:solidFill>
                  <a:srgbClr val="1A1A1A"/>
                </a:solidFill>
                <a:latin typeface="Calibri" pitchFamily="34" charset="0"/>
                <a:ea typeface="Calibri" pitchFamily="34" charset="-122"/>
                <a:cs typeface="Calibri" pitchFamily="34" charset="-120"/>
              </a:rPr>
              <a:t>Respondé</a:t>
            </a:r>
            <a:endParaRPr lang="en-US" sz="1650" dirty="0"/>
          </a:p>
        </p:txBody>
      </p:sp>
      <p:sp>
        <p:nvSpPr>
          <p:cNvPr id="22" name="Text 20"/>
          <p:cNvSpPr txBox="1"/>
          <p:nvPr/>
        </p:nvSpPr>
        <p:spPr>
          <a:xfrm>
            <a:off x="914400" y="4709160"/>
            <a:ext cx="2926080" cy="77724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Un intento, 20 segundos, antes de apoyar el bloque.</a:t>
            </a:r>
            <a:endParaRPr lang="en-US" sz="1350" dirty="0"/>
          </a:p>
        </p:txBody>
      </p:sp>
      <p:sp>
        <p:nvSpPr>
          <p:cNvPr id="23" name="Shape 21"/>
          <p:cNvSpPr/>
          <p:nvPr/>
        </p:nvSpPr>
        <p:spPr>
          <a:xfrm>
            <a:off x="4343400" y="3794760"/>
            <a:ext cx="3474720" cy="1828800"/>
          </a:xfrm>
          <a:prstGeom prst="roundRect">
            <a:avLst>
              <a:gd name="adj" fmla="val 3000"/>
            </a:avLst>
          </a:prstGeom>
          <a:solidFill>
            <a:srgbClr val="F4F2EE"/>
          </a:solidFill>
          <a:ln w="12700">
            <a:solidFill>
              <a:srgbClr val="F4F2EE"/>
            </a:solidFill>
            <a:prstDash val="solid"/>
          </a:ln>
        </p:spPr>
      </p:sp>
      <p:sp>
        <p:nvSpPr>
          <p:cNvPr id="24" name="Shape 22"/>
          <p:cNvSpPr/>
          <p:nvPr/>
        </p:nvSpPr>
        <p:spPr>
          <a:xfrm>
            <a:off x="4617720" y="4069080"/>
            <a:ext cx="566928" cy="566928"/>
          </a:xfrm>
          <a:prstGeom prst="ellipse">
            <a:avLst/>
          </a:prstGeom>
          <a:solidFill>
            <a:srgbClr val="C24A2F"/>
          </a:solidFill>
          <a:ln w="12700">
            <a:solidFill>
              <a:srgbClr val="C24A2F"/>
            </a:solidFill>
            <a:prstDash val="solid"/>
          </a:ln>
        </p:spPr>
      </p:sp>
      <p:sp>
        <p:nvSpPr>
          <p:cNvPr id="25" name="Text 23"/>
          <p:cNvSpPr txBox="1"/>
          <p:nvPr/>
        </p:nvSpPr>
        <p:spPr>
          <a:xfrm>
            <a:off x="4617720" y="406908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5</a:t>
            </a:r>
            <a:endParaRPr lang="en-US" sz="1700" dirty="0"/>
          </a:p>
        </p:txBody>
      </p:sp>
      <p:sp>
        <p:nvSpPr>
          <p:cNvPr id="26" name="Text 24"/>
          <p:cNvSpPr txBox="1"/>
          <p:nvPr/>
        </p:nvSpPr>
        <p:spPr>
          <a:xfrm>
            <a:off x="5303520" y="4105656"/>
            <a:ext cx="2377440" cy="411480"/>
          </a:xfrm>
          <a:prstGeom prst="rect">
            <a:avLst/>
          </a:prstGeom>
          <a:noFill/>
          <a:ln/>
        </p:spPr>
        <p:txBody>
          <a:bodyPr wrap="square" lIns="0" tIns="0" rIns="0" bIns="0" rtlCol="0" anchor="ctr"/>
          <a:lstStyle/>
          <a:p>
            <a:pPr indent="0" marL="0">
              <a:buNone/>
            </a:pPr>
            <a:r>
              <a:rPr lang="en-US" sz="1650" b="1" dirty="0">
                <a:solidFill>
                  <a:srgbClr val="1A1A1A"/>
                </a:solidFill>
                <a:latin typeface="Calibri" pitchFamily="34" charset="0"/>
                <a:ea typeface="Calibri" pitchFamily="34" charset="-122"/>
                <a:cs typeface="Calibri" pitchFamily="34" charset="-120"/>
              </a:rPr>
              <a:t>Sumá y apoyá</a:t>
            </a:r>
            <a:endParaRPr lang="en-US" sz="1650" dirty="0"/>
          </a:p>
        </p:txBody>
      </p:sp>
      <p:sp>
        <p:nvSpPr>
          <p:cNvPr id="27" name="Text 25"/>
          <p:cNvSpPr txBox="1"/>
          <p:nvPr/>
        </p:nvSpPr>
        <p:spPr>
          <a:xfrm>
            <a:off x="4617720" y="4709160"/>
            <a:ext cx="2926080" cy="77724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Acertás: 1, 2 o 3 puntos. Errás: 0. El bloque va arriba igual.</a:t>
            </a:r>
            <a:endParaRPr lang="en-US" sz="1350" dirty="0"/>
          </a:p>
        </p:txBody>
      </p:sp>
      <p:sp>
        <p:nvSpPr>
          <p:cNvPr id="28" name="Shape 26"/>
          <p:cNvSpPr/>
          <p:nvPr/>
        </p:nvSpPr>
        <p:spPr>
          <a:xfrm>
            <a:off x="8046720" y="3794760"/>
            <a:ext cx="3474720" cy="1828800"/>
          </a:xfrm>
          <a:prstGeom prst="roundRect">
            <a:avLst>
              <a:gd name="adj" fmla="val 3000"/>
            </a:avLst>
          </a:prstGeom>
          <a:solidFill>
            <a:srgbClr val="F4F2EE"/>
          </a:solidFill>
          <a:ln w="12700">
            <a:solidFill>
              <a:srgbClr val="F4F2EE"/>
            </a:solidFill>
            <a:prstDash val="solid"/>
          </a:ln>
        </p:spPr>
      </p:sp>
      <p:sp>
        <p:nvSpPr>
          <p:cNvPr id="29" name="Shape 27"/>
          <p:cNvSpPr/>
          <p:nvPr/>
        </p:nvSpPr>
        <p:spPr>
          <a:xfrm>
            <a:off x="8321040" y="4069080"/>
            <a:ext cx="566928" cy="566928"/>
          </a:xfrm>
          <a:prstGeom prst="ellipse">
            <a:avLst/>
          </a:prstGeom>
          <a:solidFill>
            <a:srgbClr val="C24A2F"/>
          </a:solidFill>
          <a:ln w="12700">
            <a:solidFill>
              <a:srgbClr val="C24A2F"/>
            </a:solidFill>
            <a:prstDash val="solid"/>
          </a:ln>
        </p:spPr>
      </p:sp>
      <p:sp>
        <p:nvSpPr>
          <p:cNvPr id="30" name="Text 28"/>
          <p:cNvSpPr txBox="1"/>
          <p:nvPr/>
        </p:nvSpPr>
        <p:spPr>
          <a:xfrm>
            <a:off x="8321040" y="406908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6</a:t>
            </a:r>
            <a:endParaRPr lang="en-US" sz="1700" dirty="0"/>
          </a:p>
        </p:txBody>
      </p:sp>
      <p:sp>
        <p:nvSpPr>
          <p:cNvPr id="31" name="Text 29"/>
          <p:cNvSpPr txBox="1"/>
          <p:nvPr/>
        </p:nvSpPr>
        <p:spPr>
          <a:xfrm>
            <a:off x="9006840" y="4105656"/>
            <a:ext cx="2377440" cy="411480"/>
          </a:xfrm>
          <a:prstGeom prst="rect">
            <a:avLst/>
          </a:prstGeom>
          <a:noFill/>
          <a:ln/>
        </p:spPr>
        <p:txBody>
          <a:bodyPr wrap="square" lIns="0" tIns="0" rIns="0" bIns="0" rtlCol="0" anchor="ctr"/>
          <a:lstStyle/>
          <a:p>
            <a:pPr indent="0" marL="0">
              <a:buNone/>
            </a:pPr>
            <a:r>
              <a:rPr lang="en-US" sz="1650" b="1" dirty="0">
                <a:solidFill>
                  <a:srgbClr val="1A1A1A"/>
                </a:solidFill>
                <a:latin typeface="Calibri" pitchFamily="34" charset="0"/>
                <a:ea typeface="Calibri" pitchFamily="34" charset="-122"/>
                <a:cs typeface="Calibri" pitchFamily="34" charset="-120"/>
              </a:rPr>
              <a:t>Pasa el turno</a:t>
            </a:r>
            <a:endParaRPr lang="en-US" sz="1650" dirty="0"/>
          </a:p>
        </p:txBody>
      </p:sp>
      <p:sp>
        <p:nvSpPr>
          <p:cNvPr id="32" name="Text 30"/>
          <p:cNvSpPr txBox="1"/>
          <p:nvPr/>
        </p:nvSpPr>
        <p:spPr>
          <a:xfrm>
            <a:off x="8321040" y="4709160"/>
            <a:ext cx="2926080" cy="77724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Sigue el jugador de la izquierda.</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C2333"/>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FFFFFF"/>
                </a:solidFill>
                <a:latin typeface="Cambria" pitchFamily="34" charset="0"/>
                <a:ea typeface="Cambria" pitchFamily="34" charset="-122"/>
                <a:cs typeface="Cambria" pitchFamily="34" charset="-120"/>
              </a:rPr>
              <a:t>Los puntos</a:t>
            </a:r>
            <a:endParaRPr lang="en-US" sz="3800" dirty="0"/>
          </a:p>
        </p:txBody>
      </p:sp>
      <p:sp>
        <p:nvSpPr>
          <p:cNvPr id="3" name="Text 1"/>
          <p:cNvSpPr txBox="1"/>
          <p:nvPr/>
        </p:nvSpPr>
        <p:spPr>
          <a:xfrm>
            <a:off x="640080" y="1371600"/>
            <a:ext cx="10881360" cy="457200"/>
          </a:xfrm>
          <a:prstGeom prst="rect">
            <a:avLst/>
          </a:prstGeom>
          <a:noFill/>
          <a:ln/>
        </p:spPr>
        <p:txBody>
          <a:bodyPr wrap="square" lIns="0" tIns="0" rIns="0" bIns="0" rtlCol="0" anchor="ctr"/>
          <a:lstStyle/>
          <a:p>
            <a:pPr indent="0" marL="0">
              <a:buNone/>
            </a:pPr>
            <a:r>
              <a:rPr lang="en-US" sz="1500" dirty="0">
                <a:solidFill>
                  <a:srgbClr val="8A90A0"/>
                </a:solidFill>
                <a:latin typeface="Calibri" pitchFamily="34" charset="0"/>
                <a:ea typeface="Calibri" pitchFamily="34" charset="-122"/>
                <a:cs typeface="Calibri" pitchFamily="34" charset="-120"/>
              </a:rPr>
              <a:t>Cuanto más difícil el bloque, más puntos… y más riesgo.</a:t>
            </a:r>
            <a:endParaRPr lang="en-US" sz="1500" dirty="0"/>
          </a:p>
        </p:txBody>
      </p:sp>
      <p:sp>
        <p:nvSpPr>
          <p:cNvPr id="4" name="Shape 2"/>
          <p:cNvSpPr/>
          <p:nvPr/>
        </p:nvSpPr>
        <p:spPr>
          <a:xfrm>
            <a:off x="640080" y="2103120"/>
            <a:ext cx="3474720" cy="1920240"/>
          </a:xfrm>
          <a:prstGeom prst="roundRect">
            <a:avLst>
              <a:gd name="adj" fmla="val 2381"/>
            </a:avLst>
          </a:prstGeom>
          <a:solidFill>
            <a:srgbClr val="2A3247"/>
          </a:solidFill>
          <a:ln w="12700">
            <a:solidFill>
              <a:srgbClr val="2A3247"/>
            </a:solidFill>
            <a:prstDash val="solid"/>
          </a:ln>
        </p:spPr>
      </p:sp>
      <p:sp>
        <p:nvSpPr>
          <p:cNvPr id="5" name="Text 3"/>
          <p:cNvSpPr txBox="1"/>
          <p:nvPr/>
        </p:nvSpPr>
        <p:spPr>
          <a:xfrm>
            <a:off x="868680" y="2286000"/>
            <a:ext cx="1097280" cy="1097280"/>
          </a:xfrm>
          <a:prstGeom prst="rect">
            <a:avLst/>
          </a:prstGeom>
          <a:noFill/>
          <a:ln/>
        </p:spPr>
        <p:txBody>
          <a:bodyPr wrap="square" lIns="0" tIns="0" rIns="0" bIns="0" rtlCol="0" anchor="ctr"/>
          <a:lstStyle/>
          <a:p>
            <a:pPr indent="0" marL="0">
              <a:buNone/>
            </a:pPr>
            <a:r>
              <a:rPr lang="en-US" sz="5400" b="1" dirty="0">
                <a:solidFill>
                  <a:srgbClr val="C24A2F"/>
                </a:solidFill>
                <a:latin typeface="Cambria" pitchFamily="34" charset="0"/>
                <a:ea typeface="Cambria" pitchFamily="34" charset="-122"/>
                <a:cs typeface="Cambria" pitchFamily="34" charset="-120"/>
              </a:rPr>
              <a:t>1</a:t>
            </a:r>
            <a:endParaRPr lang="en-US" sz="5400" dirty="0"/>
          </a:p>
        </p:txBody>
      </p:sp>
      <p:sp>
        <p:nvSpPr>
          <p:cNvPr id="6" name="Text 4"/>
          <p:cNvSpPr txBox="1"/>
          <p:nvPr/>
        </p:nvSpPr>
        <p:spPr>
          <a:xfrm>
            <a:off x="2011680" y="2514600"/>
            <a:ext cx="1920240"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Nivel 1</a:t>
            </a:r>
            <a:endParaRPr lang="en-US" sz="1700" dirty="0"/>
          </a:p>
        </p:txBody>
      </p:sp>
      <p:sp>
        <p:nvSpPr>
          <p:cNvPr id="7" name="Text 5"/>
          <p:cNvSpPr txBox="1"/>
          <p:nvPr/>
        </p:nvSpPr>
        <p:spPr>
          <a:xfrm>
            <a:off x="2011680" y="2880360"/>
            <a:ext cx="1920240" cy="320040"/>
          </a:xfrm>
          <a:prstGeom prst="rect">
            <a:avLst/>
          </a:prstGeom>
          <a:noFill/>
          <a:ln/>
        </p:spPr>
        <p:txBody>
          <a:bodyPr wrap="square" lIns="0" tIns="0" rIns="0" bIns="0" rtlCol="0" anchor="ctr"/>
          <a:lstStyle/>
          <a:p>
            <a:pPr indent="0" marL="0">
              <a:buNone/>
            </a:pPr>
            <a:r>
              <a:rPr lang="en-US" sz="1400" dirty="0">
                <a:solidFill>
                  <a:srgbClr val="C24A2F"/>
                </a:solidFill>
                <a:latin typeface="Calibri" pitchFamily="34" charset="0"/>
                <a:ea typeface="Calibri" pitchFamily="34" charset="-122"/>
                <a:cs typeface="Calibri" pitchFamily="34" charset="-120"/>
              </a:rPr>
              <a:t>1 punto</a:t>
            </a:r>
            <a:endParaRPr lang="en-US" sz="1400" dirty="0"/>
          </a:p>
        </p:txBody>
      </p:sp>
      <p:sp>
        <p:nvSpPr>
          <p:cNvPr id="8" name="Text 6"/>
          <p:cNvSpPr txBox="1"/>
          <p:nvPr/>
        </p:nvSpPr>
        <p:spPr>
          <a:xfrm>
            <a:off x="868680" y="3429000"/>
            <a:ext cx="3017520" cy="365760"/>
          </a:xfrm>
          <a:prstGeom prst="rect">
            <a:avLst/>
          </a:prstGeom>
          <a:noFill/>
          <a:ln/>
        </p:spPr>
        <p:txBody>
          <a:bodyPr wrap="square" lIns="0" tIns="0" rIns="0" bIns="0" rtlCol="0" anchor="ctr"/>
          <a:lstStyle/>
          <a:p>
            <a:pPr indent="0" marL="0">
              <a:buNone/>
            </a:pPr>
            <a:r>
              <a:rPr lang="en-US" sz="1250" dirty="0">
                <a:solidFill>
                  <a:srgbClr val="8A90A0"/>
                </a:solidFill>
                <a:latin typeface="Calibri" pitchFamily="34" charset="0"/>
                <a:ea typeface="Calibri" pitchFamily="34" charset="-122"/>
                <a:cs typeface="Calibri" pitchFamily="34" charset="-120"/>
              </a:rPr>
              <a:t>color claro · pregunta fácil</a:t>
            </a:r>
            <a:endParaRPr lang="en-US" sz="1250" dirty="0"/>
          </a:p>
        </p:txBody>
      </p:sp>
      <p:sp>
        <p:nvSpPr>
          <p:cNvPr id="9" name="Shape 7"/>
          <p:cNvSpPr/>
          <p:nvPr/>
        </p:nvSpPr>
        <p:spPr>
          <a:xfrm>
            <a:off x="4343400" y="2103120"/>
            <a:ext cx="3474720" cy="1920240"/>
          </a:xfrm>
          <a:prstGeom prst="roundRect">
            <a:avLst>
              <a:gd name="adj" fmla="val 2381"/>
            </a:avLst>
          </a:prstGeom>
          <a:solidFill>
            <a:srgbClr val="2A3247"/>
          </a:solidFill>
          <a:ln w="12700">
            <a:solidFill>
              <a:srgbClr val="2A3247"/>
            </a:solidFill>
            <a:prstDash val="solid"/>
          </a:ln>
        </p:spPr>
      </p:sp>
      <p:sp>
        <p:nvSpPr>
          <p:cNvPr id="10" name="Text 8"/>
          <p:cNvSpPr txBox="1"/>
          <p:nvPr/>
        </p:nvSpPr>
        <p:spPr>
          <a:xfrm>
            <a:off x="4572000" y="2286000"/>
            <a:ext cx="1097280" cy="1097280"/>
          </a:xfrm>
          <a:prstGeom prst="rect">
            <a:avLst/>
          </a:prstGeom>
          <a:noFill/>
          <a:ln/>
        </p:spPr>
        <p:txBody>
          <a:bodyPr wrap="square" lIns="0" tIns="0" rIns="0" bIns="0" rtlCol="0" anchor="ctr"/>
          <a:lstStyle/>
          <a:p>
            <a:pPr indent="0" marL="0">
              <a:buNone/>
            </a:pPr>
            <a:r>
              <a:rPr lang="en-US" sz="5400" b="1" dirty="0">
                <a:solidFill>
                  <a:srgbClr val="C24A2F"/>
                </a:solidFill>
                <a:latin typeface="Cambria" pitchFamily="34" charset="0"/>
                <a:ea typeface="Cambria" pitchFamily="34" charset="-122"/>
                <a:cs typeface="Cambria" pitchFamily="34" charset="-120"/>
              </a:rPr>
              <a:t>2</a:t>
            </a:r>
            <a:endParaRPr lang="en-US" sz="5400" dirty="0"/>
          </a:p>
        </p:txBody>
      </p:sp>
      <p:sp>
        <p:nvSpPr>
          <p:cNvPr id="11" name="Text 9"/>
          <p:cNvSpPr txBox="1"/>
          <p:nvPr/>
        </p:nvSpPr>
        <p:spPr>
          <a:xfrm>
            <a:off x="5715000" y="2514600"/>
            <a:ext cx="1920240"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Nivel 2</a:t>
            </a:r>
            <a:endParaRPr lang="en-US" sz="1700" dirty="0"/>
          </a:p>
        </p:txBody>
      </p:sp>
      <p:sp>
        <p:nvSpPr>
          <p:cNvPr id="12" name="Text 10"/>
          <p:cNvSpPr txBox="1"/>
          <p:nvPr/>
        </p:nvSpPr>
        <p:spPr>
          <a:xfrm>
            <a:off x="5715000" y="2880360"/>
            <a:ext cx="1920240" cy="320040"/>
          </a:xfrm>
          <a:prstGeom prst="rect">
            <a:avLst/>
          </a:prstGeom>
          <a:noFill/>
          <a:ln/>
        </p:spPr>
        <p:txBody>
          <a:bodyPr wrap="square" lIns="0" tIns="0" rIns="0" bIns="0" rtlCol="0" anchor="ctr"/>
          <a:lstStyle/>
          <a:p>
            <a:pPr indent="0" marL="0">
              <a:buNone/>
            </a:pPr>
            <a:r>
              <a:rPr lang="en-US" sz="1400" dirty="0">
                <a:solidFill>
                  <a:srgbClr val="C24A2F"/>
                </a:solidFill>
                <a:latin typeface="Calibri" pitchFamily="34" charset="0"/>
                <a:ea typeface="Calibri" pitchFamily="34" charset="-122"/>
                <a:cs typeface="Calibri" pitchFamily="34" charset="-120"/>
              </a:rPr>
              <a:t>2 puntos</a:t>
            </a:r>
            <a:endParaRPr lang="en-US" sz="1400" dirty="0"/>
          </a:p>
        </p:txBody>
      </p:sp>
      <p:sp>
        <p:nvSpPr>
          <p:cNvPr id="13" name="Text 11"/>
          <p:cNvSpPr txBox="1"/>
          <p:nvPr/>
        </p:nvSpPr>
        <p:spPr>
          <a:xfrm>
            <a:off x="4572000" y="3429000"/>
            <a:ext cx="3017520" cy="365760"/>
          </a:xfrm>
          <a:prstGeom prst="rect">
            <a:avLst/>
          </a:prstGeom>
          <a:noFill/>
          <a:ln/>
        </p:spPr>
        <p:txBody>
          <a:bodyPr wrap="square" lIns="0" tIns="0" rIns="0" bIns="0" rtlCol="0" anchor="ctr"/>
          <a:lstStyle/>
          <a:p>
            <a:pPr indent="0" marL="0">
              <a:buNone/>
            </a:pPr>
            <a:r>
              <a:rPr lang="en-US" sz="1250" dirty="0">
                <a:solidFill>
                  <a:srgbClr val="8A90A0"/>
                </a:solidFill>
                <a:latin typeface="Calibri" pitchFamily="34" charset="0"/>
                <a:ea typeface="Calibri" pitchFamily="34" charset="-122"/>
                <a:cs typeface="Calibri" pitchFamily="34" charset="-120"/>
              </a:rPr>
              <a:t>color medio · pregunta media</a:t>
            </a:r>
            <a:endParaRPr lang="en-US" sz="1250" dirty="0"/>
          </a:p>
        </p:txBody>
      </p:sp>
      <p:sp>
        <p:nvSpPr>
          <p:cNvPr id="14" name="Shape 12"/>
          <p:cNvSpPr/>
          <p:nvPr/>
        </p:nvSpPr>
        <p:spPr>
          <a:xfrm>
            <a:off x="8046720" y="2103120"/>
            <a:ext cx="3474720" cy="1920240"/>
          </a:xfrm>
          <a:prstGeom prst="roundRect">
            <a:avLst>
              <a:gd name="adj" fmla="val 2381"/>
            </a:avLst>
          </a:prstGeom>
          <a:solidFill>
            <a:srgbClr val="2A3247"/>
          </a:solidFill>
          <a:ln w="12700">
            <a:solidFill>
              <a:srgbClr val="2A3247"/>
            </a:solidFill>
            <a:prstDash val="solid"/>
          </a:ln>
        </p:spPr>
      </p:sp>
      <p:sp>
        <p:nvSpPr>
          <p:cNvPr id="15" name="Text 13"/>
          <p:cNvSpPr txBox="1"/>
          <p:nvPr/>
        </p:nvSpPr>
        <p:spPr>
          <a:xfrm>
            <a:off x="8275320" y="2286000"/>
            <a:ext cx="1097280" cy="1097280"/>
          </a:xfrm>
          <a:prstGeom prst="rect">
            <a:avLst/>
          </a:prstGeom>
          <a:noFill/>
          <a:ln/>
        </p:spPr>
        <p:txBody>
          <a:bodyPr wrap="square" lIns="0" tIns="0" rIns="0" bIns="0" rtlCol="0" anchor="ctr"/>
          <a:lstStyle/>
          <a:p>
            <a:pPr indent="0" marL="0">
              <a:buNone/>
            </a:pPr>
            <a:r>
              <a:rPr lang="en-US" sz="5400" b="1" dirty="0">
                <a:solidFill>
                  <a:srgbClr val="C24A2F"/>
                </a:solidFill>
                <a:latin typeface="Cambria" pitchFamily="34" charset="0"/>
                <a:ea typeface="Cambria" pitchFamily="34" charset="-122"/>
                <a:cs typeface="Cambria" pitchFamily="34" charset="-120"/>
              </a:rPr>
              <a:t>3</a:t>
            </a:r>
            <a:endParaRPr lang="en-US" sz="5400" dirty="0"/>
          </a:p>
        </p:txBody>
      </p:sp>
      <p:sp>
        <p:nvSpPr>
          <p:cNvPr id="16" name="Text 14"/>
          <p:cNvSpPr txBox="1"/>
          <p:nvPr/>
        </p:nvSpPr>
        <p:spPr>
          <a:xfrm>
            <a:off x="9418320" y="2514600"/>
            <a:ext cx="1920240"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Nivel 3</a:t>
            </a:r>
            <a:endParaRPr lang="en-US" sz="1700" dirty="0"/>
          </a:p>
        </p:txBody>
      </p:sp>
      <p:sp>
        <p:nvSpPr>
          <p:cNvPr id="17" name="Text 15"/>
          <p:cNvSpPr txBox="1"/>
          <p:nvPr/>
        </p:nvSpPr>
        <p:spPr>
          <a:xfrm>
            <a:off x="9418320" y="2880360"/>
            <a:ext cx="1920240" cy="320040"/>
          </a:xfrm>
          <a:prstGeom prst="rect">
            <a:avLst/>
          </a:prstGeom>
          <a:noFill/>
          <a:ln/>
        </p:spPr>
        <p:txBody>
          <a:bodyPr wrap="square" lIns="0" tIns="0" rIns="0" bIns="0" rtlCol="0" anchor="ctr"/>
          <a:lstStyle/>
          <a:p>
            <a:pPr indent="0" marL="0">
              <a:buNone/>
            </a:pPr>
            <a:r>
              <a:rPr lang="en-US" sz="1400" dirty="0">
                <a:solidFill>
                  <a:srgbClr val="C24A2F"/>
                </a:solidFill>
                <a:latin typeface="Calibri" pitchFamily="34" charset="0"/>
                <a:ea typeface="Calibri" pitchFamily="34" charset="-122"/>
                <a:cs typeface="Calibri" pitchFamily="34" charset="-120"/>
              </a:rPr>
              <a:t>3 puntos</a:t>
            </a:r>
            <a:endParaRPr lang="en-US" sz="1400" dirty="0"/>
          </a:p>
        </p:txBody>
      </p:sp>
      <p:sp>
        <p:nvSpPr>
          <p:cNvPr id="18" name="Text 16"/>
          <p:cNvSpPr txBox="1"/>
          <p:nvPr/>
        </p:nvSpPr>
        <p:spPr>
          <a:xfrm>
            <a:off x="8275320" y="3429000"/>
            <a:ext cx="3017520" cy="365760"/>
          </a:xfrm>
          <a:prstGeom prst="rect">
            <a:avLst/>
          </a:prstGeom>
          <a:noFill/>
          <a:ln/>
        </p:spPr>
        <p:txBody>
          <a:bodyPr wrap="square" lIns="0" tIns="0" rIns="0" bIns="0" rtlCol="0" anchor="ctr"/>
          <a:lstStyle/>
          <a:p>
            <a:pPr indent="0" marL="0">
              <a:buNone/>
            </a:pPr>
            <a:r>
              <a:rPr lang="en-US" sz="1250" dirty="0">
                <a:solidFill>
                  <a:srgbClr val="8A90A0"/>
                </a:solidFill>
                <a:latin typeface="Calibri" pitchFamily="34" charset="0"/>
                <a:ea typeface="Calibri" pitchFamily="34" charset="-122"/>
                <a:cs typeface="Calibri" pitchFamily="34" charset="-120"/>
              </a:rPr>
              <a:t>color intenso · pregunta difícil</a:t>
            </a:r>
            <a:endParaRPr lang="en-US" sz="1250" dirty="0"/>
          </a:p>
        </p:txBody>
      </p:sp>
      <p:sp>
        <p:nvSpPr>
          <p:cNvPr id="19" name="Shape 17"/>
          <p:cNvSpPr/>
          <p:nvPr/>
        </p:nvSpPr>
        <p:spPr>
          <a:xfrm>
            <a:off x="640080" y="4434840"/>
            <a:ext cx="10881360" cy="1600200"/>
          </a:xfrm>
          <a:prstGeom prst="roundRect">
            <a:avLst>
              <a:gd name="adj" fmla="val 2857"/>
            </a:avLst>
          </a:prstGeom>
          <a:solidFill>
            <a:srgbClr val="3A2320"/>
          </a:solidFill>
          <a:ln w="12700">
            <a:solidFill>
              <a:srgbClr val="3A2320"/>
            </a:solidFill>
            <a:prstDash val="solid"/>
          </a:ln>
        </p:spPr>
      </p:sp>
      <p:sp>
        <p:nvSpPr>
          <p:cNvPr id="20" name="Text 18"/>
          <p:cNvSpPr txBox="1"/>
          <p:nvPr/>
        </p:nvSpPr>
        <p:spPr>
          <a:xfrm>
            <a:off x="1051560" y="4663440"/>
            <a:ext cx="10058400" cy="457200"/>
          </a:xfrm>
          <a:prstGeom prst="rect">
            <a:avLst/>
          </a:prstGeom>
          <a:noFill/>
          <a:ln/>
        </p:spPr>
        <p:txBody>
          <a:bodyPr wrap="square" lIns="0" tIns="0" rIns="0" bIns="0" rtlCol="0" anchor="ctr"/>
          <a:lstStyle/>
          <a:p>
            <a:pPr indent="0" marL="0">
              <a:buNone/>
            </a:pPr>
            <a:r>
              <a:rPr lang="en-US" sz="2400" b="1" dirty="0">
                <a:solidFill>
                  <a:srgbClr val="FF8A6B"/>
                </a:solidFill>
                <a:latin typeface="Cambria" pitchFamily="34" charset="0"/>
                <a:ea typeface="Cambria" pitchFamily="34" charset="-122"/>
                <a:cs typeface="Cambria" pitchFamily="34" charset="-120"/>
              </a:rPr>
              <a:t>Si se cae la torre, el que la tiró pierde TODOS sus puntos.</a:t>
            </a:r>
            <a:endParaRPr lang="en-US" sz="2400" dirty="0"/>
          </a:p>
        </p:txBody>
      </p:sp>
      <p:sp>
        <p:nvSpPr>
          <p:cNvPr id="21" name="Text 19"/>
          <p:cNvSpPr txBox="1"/>
          <p:nvPr/>
        </p:nvSpPr>
        <p:spPr>
          <a:xfrm>
            <a:off x="1051560" y="5212080"/>
            <a:ext cx="10058400" cy="548640"/>
          </a:xfrm>
          <a:prstGeom prst="rect">
            <a:avLst/>
          </a:prstGeom>
          <a:noFill/>
          <a:ln/>
        </p:spPr>
        <p:txBody>
          <a:bodyPr wrap="square" lIns="0" tIns="0" rIns="0" bIns="0" rtlCol="0" anchor="ctr"/>
          <a:lstStyle/>
          <a:p>
            <a:pPr indent="0" marL="0">
              <a:buNone/>
            </a:pPr>
            <a:r>
              <a:rPr lang="en-US" sz="1500" dirty="0">
                <a:solidFill>
                  <a:srgbClr val="E4D8D4"/>
                </a:solidFill>
                <a:latin typeface="Calibri" pitchFamily="34" charset="0"/>
                <a:ea typeface="Calibri" pitchFamily="34" charset="-122"/>
                <a:cs typeface="Calibri" pitchFamily="34" charset="-120"/>
              </a:rPr>
              <a:t>Los demás conservan lo que sumaron y gana el que tenga más. Por eso conviene pensar dos veces antes de ir por el bloque de 3 puntos.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La decisión que hay en cada turno</a:t>
            </a:r>
            <a:endParaRPr lang="en-US" sz="3800" dirty="0"/>
          </a:p>
        </p:txBody>
      </p:sp>
      <p:sp>
        <p:nvSpPr>
          <p:cNvPr id="3" name="Text 1"/>
          <p:cNvSpPr txBox="1"/>
          <p:nvPr/>
        </p:nvSpPr>
        <p:spPr>
          <a:xfrm>
            <a:off x="640080" y="1371600"/>
            <a:ext cx="10881360" cy="457200"/>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Es lo que diferencia al juego de una trivia y de un Jenga común.</a:t>
            </a:r>
            <a:endParaRPr lang="en-US" sz="1500" dirty="0"/>
          </a:p>
        </p:txBody>
      </p:sp>
      <p:sp>
        <p:nvSpPr>
          <p:cNvPr id="4" name="Shape 2"/>
          <p:cNvSpPr/>
          <p:nvPr/>
        </p:nvSpPr>
        <p:spPr>
          <a:xfrm>
            <a:off x="640080" y="1965960"/>
            <a:ext cx="3474720" cy="3200400"/>
          </a:xfrm>
          <a:prstGeom prst="roundRect">
            <a:avLst>
              <a:gd name="adj" fmla="val 1714"/>
            </a:avLst>
          </a:prstGeom>
          <a:solidFill>
            <a:srgbClr val="F4F2EE"/>
          </a:solidFill>
          <a:ln w="12700">
            <a:solidFill>
              <a:srgbClr val="F4F2EE"/>
            </a:solidFill>
            <a:prstDash val="solid"/>
          </a:ln>
        </p:spPr>
      </p:sp>
      <p:sp>
        <p:nvSpPr>
          <p:cNvPr id="5" name="Shape 3"/>
          <p:cNvSpPr/>
          <p:nvPr/>
        </p:nvSpPr>
        <p:spPr>
          <a:xfrm>
            <a:off x="914400" y="2240280"/>
            <a:ext cx="548640" cy="548640"/>
          </a:xfrm>
          <a:prstGeom prst="ellipse">
            <a:avLst/>
          </a:prstGeom>
          <a:solidFill>
            <a:srgbClr val="AA0000"/>
          </a:solidFill>
          <a:ln w="12700">
            <a:solidFill>
              <a:srgbClr val="AA0000"/>
            </a:solidFill>
            <a:prstDash val="solid"/>
          </a:ln>
        </p:spPr>
      </p:sp>
      <p:sp>
        <p:nvSpPr>
          <p:cNvPr id="6" name="Text 4"/>
          <p:cNvSpPr txBox="1"/>
          <p:nvPr/>
        </p:nvSpPr>
        <p:spPr>
          <a:xfrm>
            <a:off x="914400" y="22402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914400" y="2926080"/>
            <a:ext cx="2926080" cy="365760"/>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Riesgo físico</a:t>
            </a:r>
            <a:endParaRPr lang="en-US" sz="1900" dirty="0"/>
          </a:p>
        </p:txBody>
      </p:sp>
      <p:sp>
        <p:nvSpPr>
          <p:cNvPr id="8" name="Text 6"/>
          <p:cNvSpPr txBox="1"/>
          <p:nvPr/>
        </p:nvSpPr>
        <p:spPr>
          <a:xfrm>
            <a:off x="914400" y="3310128"/>
            <a:ext cx="2926080" cy="365760"/>
          </a:xfrm>
          <a:prstGeom prst="rect">
            <a:avLst/>
          </a:prstGeom>
          <a:noFill/>
          <a:ln/>
        </p:spPr>
        <p:txBody>
          <a:bodyPr wrap="square" lIns="0" tIns="0" rIns="0" bIns="0" rtlCol="0" anchor="ctr"/>
          <a:lstStyle/>
          <a:p>
            <a:pPr indent="0" marL="0">
              <a:buNone/>
            </a:pPr>
            <a:r>
              <a:rPr lang="en-US" sz="1400" i="1" dirty="0">
                <a:solidFill>
                  <a:srgbClr val="C24A2F"/>
                </a:solidFill>
                <a:latin typeface="Calibri" pitchFamily="34" charset="0"/>
                <a:ea typeface="Calibri" pitchFamily="34" charset="-122"/>
                <a:cs typeface="Calibri" pitchFamily="34" charset="-120"/>
              </a:rPr>
              <a:t>¿De dónde saco el bloque?</a:t>
            </a:r>
            <a:endParaRPr lang="en-US" sz="1400" dirty="0"/>
          </a:p>
        </p:txBody>
      </p:sp>
      <p:sp>
        <p:nvSpPr>
          <p:cNvPr id="9" name="Text 7"/>
          <p:cNvSpPr txBox="1"/>
          <p:nvPr/>
        </p:nvSpPr>
        <p:spPr>
          <a:xfrm>
            <a:off x="914400" y="3794760"/>
            <a:ext cx="2926080" cy="118872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Los bloques de abajo son más seguros pero ya casi no quedan. Los de arriba están sueltos y la torre se tambalea.</a:t>
            </a:r>
            <a:endParaRPr lang="en-US" sz="1350" dirty="0"/>
          </a:p>
        </p:txBody>
      </p:sp>
      <p:sp>
        <p:nvSpPr>
          <p:cNvPr id="10" name="Shape 8"/>
          <p:cNvSpPr/>
          <p:nvPr/>
        </p:nvSpPr>
        <p:spPr>
          <a:xfrm>
            <a:off x="4343400" y="1965960"/>
            <a:ext cx="3474720" cy="3200400"/>
          </a:xfrm>
          <a:prstGeom prst="roundRect">
            <a:avLst>
              <a:gd name="adj" fmla="val 1714"/>
            </a:avLst>
          </a:prstGeom>
          <a:solidFill>
            <a:srgbClr val="F4F2EE"/>
          </a:solidFill>
          <a:ln w="12700">
            <a:solidFill>
              <a:srgbClr val="F4F2EE"/>
            </a:solidFill>
            <a:prstDash val="solid"/>
          </a:ln>
        </p:spPr>
      </p:sp>
      <p:sp>
        <p:nvSpPr>
          <p:cNvPr id="11" name="Shape 9"/>
          <p:cNvSpPr/>
          <p:nvPr/>
        </p:nvSpPr>
        <p:spPr>
          <a:xfrm>
            <a:off x="4617720" y="2240280"/>
            <a:ext cx="548640" cy="548640"/>
          </a:xfrm>
          <a:prstGeom prst="ellipse">
            <a:avLst/>
          </a:prstGeom>
          <a:solidFill>
            <a:srgbClr val="004488"/>
          </a:solidFill>
          <a:ln w="12700">
            <a:solidFill>
              <a:srgbClr val="004488"/>
            </a:solidFill>
            <a:prstDash val="solid"/>
          </a:ln>
        </p:spPr>
      </p:sp>
      <p:sp>
        <p:nvSpPr>
          <p:cNvPr id="12" name="Text 10"/>
          <p:cNvSpPr txBox="1"/>
          <p:nvPr/>
        </p:nvSpPr>
        <p:spPr>
          <a:xfrm>
            <a:off x="4617720" y="22402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txBox="1"/>
          <p:nvPr/>
        </p:nvSpPr>
        <p:spPr>
          <a:xfrm>
            <a:off x="4617720" y="2926080"/>
            <a:ext cx="2926080" cy="365760"/>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Riesgo académico</a:t>
            </a:r>
            <a:endParaRPr lang="en-US" sz="1900" dirty="0"/>
          </a:p>
        </p:txBody>
      </p:sp>
      <p:sp>
        <p:nvSpPr>
          <p:cNvPr id="14" name="Text 12"/>
          <p:cNvSpPr txBox="1"/>
          <p:nvPr/>
        </p:nvSpPr>
        <p:spPr>
          <a:xfrm>
            <a:off x="4617720" y="3310128"/>
            <a:ext cx="2926080" cy="365760"/>
          </a:xfrm>
          <a:prstGeom prst="rect">
            <a:avLst/>
          </a:prstGeom>
          <a:noFill/>
          <a:ln/>
        </p:spPr>
        <p:txBody>
          <a:bodyPr wrap="square" lIns="0" tIns="0" rIns="0" bIns="0" rtlCol="0" anchor="ctr"/>
          <a:lstStyle/>
          <a:p>
            <a:pPr indent="0" marL="0">
              <a:buNone/>
            </a:pPr>
            <a:r>
              <a:rPr lang="en-US" sz="1400" i="1" dirty="0">
                <a:solidFill>
                  <a:srgbClr val="C24A2F"/>
                </a:solidFill>
                <a:latin typeface="Calibri" pitchFamily="34" charset="0"/>
                <a:ea typeface="Calibri" pitchFamily="34" charset="-122"/>
                <a:cs typeface="Calibri" pitchFamily="34" charset="-120"/>
              </a:rPr>
              <a:t>¿Qué nivel me conviene?</a:t>
            </a:r>
            <a:endParaRPr lang="en-US" sz="1400" dirty="0"/>
          </a:p>
        </p:txBody>
      </p:sp>
      <p:sp>
        <p:nvSpPr>
          <p:cNvPr id="15" name="Text 13"/>
          <p:cNvSpPr txBox="1"/>
          <p:nvPr/>
        </p:nvSpPr>
        <p:spPr>
          <a:xfrm>
            <a:off x="4617720" y="3794760"/>
            <a:ext cx="2926080" cy="118872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Un bloque de nivel 3 vale el triple, pero si no sabés la respuesta movés la torre para nada.</a:t>
            </a:r>
            <a:endParaRPr lang="en-US" sz="1350" dirty="0"/>
          </a:p>
        </p:txBody>
      </p:sp>
      <p:sp>
        <p:nvSpPr>
          <p:cNvPr id="16" name="Shape 14"/>
          <p:cNvSpPr/>
          <p:nvPr/>
        </p:nvSpPr>
        <p:spPr>
          <a:xfrm>
            <a:off x="8046720" y="1965960"/>
            <a:ext cx="3474720" cy="3200400"/>
          </a:xfrm>
          <a:prstGeom prst="roundRect">
            <a:avLst>
              <a:gd name="adj" fmla="val 1714"/>
            </a:avLst>
          </a:prstGeom>
          <a:solidFill>
            <a:srgbClr val="F4F2EE"/>
          </a:solidFill>
          <a:ln w="12700">
            <a:solidFill>
              <a:srgbClr val="F4F2EE"/>
            </a:solidFill>
            <a:prstDash val="solid"/>
          </a:ln>
        </p:spPr>
      </p:sp>
      <p:sp>
        <p:nvSpPr>
          <p:cNvPr id="17" name="Shape 15"/>
          <p:cNvSpPr/>
          <p:nvPr/>
        </p:nvSpPr>
        <p:spPr>
          <a:xfrm>
            <a:off x="8321040" y="2240280"/>
            <a:ext cx="548640" cy="548640"/>
          </a:xfrm>
          <a:prstGeom prst="ellipse">
            <a:avLst/>
          </a:prstGeom>
          <a:solidFill>
            <a:srgbClr val="BB4400"/>
          </a:solidFill>
          <a:ln w="12700">
            <a:solidFill>
              <a:srgbClr val="BB4400"/>
            </a:solidFill>
            <a:prstDash val="solid"/>
          </a:ln>
        </p:spPr>
      </p:sp>
      <p:sp>
        <p:nvSpPr>
          <p:cNvPr id="18" name="Text 16"/>
          <p:cNvSpPr txBox="1"/>
          <p:nvPr/>
        </p:nvSpPr>
        <p:spPr>
          <a:xfrm>
            <a:off x="8321040" y="22402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8321040" y="2926080"/>
            <a:ext cx="2926080" cy="365760"/>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Riesgo de todo</a:t>
            </a:r>
            <a:endParaRPr lang="en-US" sz="1900" dirty="0"/>
          </a:p>
        </p:txBody>
      </p:sp>
      <p:sp>
        <p:nvSpPr>
          <p:cNvPr id="20" name="Text 18"/>
          <p:cNvSpPr txBox="1"/>
          <p:nvPr/>
        </p:nvSpPr>
        <p:spPr>
          <a:xfrm>
            <a:off x="8321040" y="3310128"/>
            <a:ext cx="2926080" cy="365760"/>
          </a:xfrm>
          <a:prstGeom prst="rect">
            <a:avLst/>
          </a:prstGeom>
          <a:noFill/>
          <a:ln/>
        </p:spPr>
        <p:txBody>
          <a:bodyPr wrap="square" lIns="0" tIns="0" rIns="0" bIns="0" rtlCol="0" anchor="ctr"/>
          <a:lstStyle/>
          <a:p>
            <a:pPr indent="0" marL="0">
              <a:buNone/>
            </a:pPr>
            <a:r>
              <a:rPr lang="en-US" sz="1400" i="1" dirty="0">
                <a:solidFill>
                  <a:srgbClr val="C24A2F"/>
                </a:solidFill>
                <a:latin typeface="Calibri" pitchFamily="34" charset="0"/>
                <a:ea typeface="Calibri" pitchFamily="34" charset="-122"/>
                <a:cs typeface="Calibri" pitchFamily="34" charset="-120"/>
              </a:rPr>
              <a:t>¿Sigo o voy a lo seguro?</a:t>
            </a:r>
            <a:endParaRPr lang="en-US" sz="1400" dirty="0"/>
          </a:p>
        </p:txBody>
      </p:sp>
      <p:sp>
        <p:nvSpPr>
          <p:cNvPr id="21" name="Text 19"/>
          <p:cNvSpPr txBox="1"/>
          <p:nvPr/>
        </p:nvSpPr>
        <p:spPr>
          <a:xfrm>
            <a:off x="8321040" y="3794760"/>
            <a:ext cx="2926080" cy="118872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Si ya sos el que más puntos tiene, tirar la torre te deja en cero. El que va perdiendo no tiene nada que perder.</a:t>
            </a:r>
            <a:endParaRPr lang="en-US" sz="1350" dirty="0"/>
          </a:p>
        </p:txBody>
      </p:sp>
      <p:sp>
        <p:nvSpPr>
          <p:cNvPr id="22" name="Text 20"/>
          <p:cNvSpPr txBox="1"/>
          <p:nvPr/>
        </p:nvSpPr>
        <p:spPr>
          <a:xfrm>
            <a:off x="640080" y="5440680"/>
            <a:ext cx="10881360" cy="548640"/>
          </a:xfrm>
          <a:prstGeom prst="rect">
            <a:avLst/>
          </a:prstGeom>
          <a:noFill/>
          <a:ln/>
        </p:spPr>
        <p:txBody>
          <a:bodyPr wrap="square" lIns="0" tIns="0" rIns="0" bIns="0" rtlCol="0" anchor="ctr"/>
          <a:lstStyle/>
          <a:p>
            <a:pPr indent="0" marL="0">
              <a:buNone/>
            </a:pPr>
            <a:r>
              <a:rPr lang="en-US" sz="1500" i="1" dirty="0">
                <a:solidFill>
                  <a:srgbClr val="2A3247"/>
                </a:solidFill>
                <a:latin typeface="Calibri" pitchFamily="34" charset="0"/>
                <a:ea typeface="Calibri" pitchFamily="34" charset="-122"/>
                <a:cs typeface="Calibri" pitchFamily="34" charset="-120"/>
              </a:rPr>
              <a:t>Ninguna de las tres decisiones se puede tomar sola: por eso el juego no es ni pura suerte ni puro conocimiento.</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Las cartas</a:t>
            </a:r>
            <a:endParaRPr lang="en-US" sz="3800" dirty="0"/>
          </a:p>
        </p:txBody>
      </p:sp>
      <p:sp>
        <p:nvSpPr>
          <p:cNvPr id="3" name="Text 1"/>
          <p:cNvSpPr txBox="1"/>
          <p:nvPr/>
        </p:nvSpPr>
        <p:spPr>
          <a:xfrm>
            <a:off x="640080" y="1371600"/>
            <a:ext cx="10881360" cy="457200"/>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15 mazos de 4 cartas: uno por cada materia y cada nivel.</a:t>
            </a:r>
            <a:endParaRPr lang="en-US" sz="1500" dirty="0"/>
          </a:p>
        </p:txBody>
      </p:sp>
      <p:pic>
        <p:nvPicPr>
          <p:cNvPr id="4" name="Image 0" descr="Tres cartas de preguntas, una de cada nivel">    </p:cNvPr>
          <p:cNvPicPr>
            <a:picLocks noChangeAspect="1"/>
          </p:cNvPicPr>
          <p:nvPr/>
        </p:nvPicPr>
        <p:blipFill>
          <a:blip r:embed="rId1"/>
          <a:stretch>
            <a:fillRect/>
          </a:stretch>
        </p:blipFill>
        <p:spPr>
          <a:xfrm>
            <a:off x="777240" y="1965960"/>
            <a:ext cx="6675120" cy="2955131"/>
          </a:xfrm>
          <a:prstGeom prst="rect">
            <a:avLst/>
          </a:prstGeom>
        </p:spPr>
      </p:pic>
      <p:sp>
        <p:nvSpPr>
          <p:cNvPr id="5" name="Text 2"/>
          <p:cNvSpPr txBox="1"/>
          <p:nvPr/>
        </p:nvSpPr>
        <p:spPr>
          <a:xfrm>
            <a:off x="7955280" y="2103120"/>
            <a:ext cx="3657600" cy="457200"/>
          </a:xfrm>
          <a:prstGeom prst="rect">
            <a:avLst/>
          </a:prstGeom>
          <a:noFill/>
          <a:ln/>
        </p:spPr>
        <p:txBody>
          <a:bodyPr wrap="square" lIns="0" tIns="0" rIns="0" bIns="0" rtlCol="0" anchor="ctr"/>
          <a:lstStyle/>
          <a:p>
            <a:pPr indent="0" marL="0">
              <a:buNone/>
            </a:pPr>
            <a:r>
              <a:rPr lang="en-US" sz="2700" b="1" dirty="0">
                <a:solidFill>
                  <a:srgbClr val="C24A2F"/>
                </a:solidFill>
                <a:latin typeface="Cambria" pitchFamily="34" charset="0"/>
                <a:ea typeface="Cambria" pitchFamily="34" charset="-122"/>
                <a:cs typeface="Cambria" pitchFamily="34" charset="-120"/>
              </a:rPr>
              <a:t>60</a:t>
            </a:r>
            <a:endParaRPr lang="en-US" sz="2700" dirty="0"/>
          </a:p>
        </p:txBody>
      </p:sp>
      <p:sp>
        <p:nvSpPr>
          <p:cNvPr id="6" name="Text 3"/>
          <p:cNvSpPr txBox="1"/>
          <p:nvPr/>
        </p:nvSpPr>
        <p:spPr>
          <a:xfrm>
            <a:off x="7955280" y="2578608"/>
            <a:ext cx="3657600" cy="365760"/>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preguntas en total</a:t>
            </a:r>
            <a:endParaRPr lang="en-US" sz="1400" dirty="0"/>
          </a:p>
        </p:txBody>
      </p:sp>
      <p:sp>
        <p:nvSpPr>
          <p:cNvPr id="7" name="Text 4"/>
          <p:cNvSpPr txBox="1"/>
          <p:nvPr/>
        </p:nvSpPr>
        <p:spPr>
          <a:xfrm>
            <a:off x="7955280" y="3246120"/>
            <a:ext cx="3657600" cy="457200"/>
          </a:xfrm>
          <a:prstGeom prst="rect">
            <a:avLst/>
          </a:prstGeom>
          <a:noFill/>
          <a:ln/>
        </p:spPr>
        <p:txBody>
          <a:bodyPr wrap="square" lIns="0" tIns="0" rIns="0" bIns="0" rtlCol="0" anchor="ctr"/>
          <a:lstStyle/>
          <a:p>
            <a:pPr indent="0" marL="0">
              <a:buNone/>
            </a:pPr>
            <a:r>
              <a:rPr lang="en-US" sz="2700" b="1" dirty="0">
                <a:solidFill>
                  <a:srgbClr val="C24A2F"/>
                </a:solidFill>
                <a:latin typeface="Cambria" pitchFamily="34" charset="0"/>
                <a:ea typeface="Cambria" pitchFamily="34" charset="-122"/>
                <a:cs typeface="Cambria" pitchFamily="34" charset="-120"/>
              </a:rPr>
              <a:t>72 × 100 mm</a:t>
            </a:r>
            <a:endParaRPr lang="en-US" sz="2700" dirty="0"/>
          </a:p>
        </p:txBody>
      </p:sp>
      <p:sp>
        <p:nvSpPr>
          <p:cNvPr id="8" name="Text 5"/>
          <p:cNvSpPr txBox="1"/>
          <p:nvPr/>
        </p:nvSpPr>
        <p:spPr>
          <a:xfrm>
            <a:off x="7955280" y="3721608"/>
            <a:ext cx="3657600" cy="365760"/>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cada carta</a:t>
            </a:r>
            <a:endParaRPr lang="en-US" sz="1400" dirty="0"/>
          </a:p>
        </p:txBody>
      </p:sp>
      <p:sp>
        <p:nvSpPr>
          <p:cNvPr id="9" name="Text 6"/>
          <p:cNvSpPr txBox="1"/>
          <p:nvPr/>
        </p:nvSpPr>
        <p:spPr>
          <a:xfrm>
            <a:off x="7955280" y="4389120"/>
            <a:ext cx="3657600" cy="457200"/>
          </a:xfrm>
          <a:prstGeom prst="rect">
            <a:avLst/>
          </a:prstGeom>
          <a:noFill/>
          <a:ln/>
        </p:spPr>
        <p:txBody>
          <a:bodyPr wrap="square" lIns="0" tIns="0" rIns="0" bIns="0" rtlCol="0" anchor="ctr"/>
          <a:lstStyle/>
          <a:p>
            <a:pPr indent="0" marL="0">
              <a:buNone/>
            </a:pPr>
            <a:r>
              <a:rPr lang="en-US" sz="2700" b="1" dirty="0">
                <a:solidFill>
                  <a:srgbClr val="C24A2F"/>
                </a:solidFill>
                <a:latin typeface="Cambria" pitchFamily="34" charset="0"/>
                <a:ea typeface="Cambria" pitchFamily="34" charset="-122"/>
                <a:cs typeface="Cambria" pitchFamily="34" charset="-120"/>
              </a:rPr>
              <a:t>2 páginas</a:t>
            </a:r>
            <a:endParaRPr lang="en-US" sz="2700" dirty="0"/>
          </a:p>
        </p:txBody>
      </p:sp>
      <p:sp>
        <p:nvSpPr>
          <p:cNvPr id="10" name="Text 7"/>
          <p:cNvSpPr txBox="1"/>
          <p:nvPr/>
        </p:nvSpPr>
        <p:spPr>
          <a:xfrm>
            <a:off x="7955280" y="4864608"/>
            <a:ext cx="3657600" cy="365760"/>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frente y dorso, a doble faz</a:t>
            </a:r>
            <a:endParaRPr lang="en-US" sz="1400" dirty="0"/>
          </a:p>
        </p:txBody>
      </p:sp>
      <p:sp>
        <p:nvSpPr>
          <p:cNvPr id="11" name="Text 8"/>
          <p:cNvSpPr txBox="1"/>
          <p:nvPr/>
        </p:nvSpPr>
        <p:spPr>
          <a:xfrm>
            <a:off x="7955280" y="5532120"/>
            <a:ext cx="3657600" cy="640080"/>
          </a:xfrm>
          <a:prstGeom prst="rect">
            <a:avLst/>
          </a:prstGeom>
          <a:noFill/>
          <a:ln/>
        </p:spPr>
        <p:txBody>
          <a:bodyPr wrap="square" lIns="0" tIns="0" rIns="0" bIns="0" rtlCol="0" anchor="ctr"/>
          <a:lstStyle/>
          <a:p>
            <a:pPr indent="0" marL="0">
              <a:lnSpc>
                <a:spcPts val="1700"/>
              </a:lnSpc>
              <a:buNone/>
            </a:pPr>
            <a:r>
              <a:rPr lang="en-US" sz="1300" i="1" dirty="0">
                <a:solidFill>
                  <a:srgbClr val="5A6070"/>
                </a:solidFill>
                <a:latin typeface="Calibri" pitchFamily="34" charset="0"/>
                <a:ea typeface="Calibri" pitchFamily="34" charset="-122"/>
                <a:cs typeface="Calibri" pitchFamily="34" charset="-120"/>
              </a:rPr>
              <a:t>La pregunta va grande y la respuesta chica abajo, para que la lea otro jugador.</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Las piezas impresas en 3D</a:t>
            </a:r>
            <a:endParaRPr lang="en-US" sz="3800" dirty="0"/>
          </a:p>
        </p:txBody>
      </p:sp>
      <p:sp>
        <p:nvSpPr>
          <p:cNvPr id="3" name="Text 1"/>
          <p:cNvSpPr txBox="1"/>
          <p:nvPr/>
        </p:nvSpPr>
        <p:spPr>
          <a:xfrm>
            <a:off x="640080" y="1371600"/>
            <a:ext cx="10881360" cy="457200"/>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Además de los bloques, el juego trae dos piezas funcionales.</a:t>
            </a:r>
            <a:endParaRPr lang="en-US" sz="1500" dirty="0"/>
          </a:p>
        </p:txBody>
      </p:sp>
      <p:pic>
        <p:nvPicPr>
          <p:cNvPr id="4" name="Image 0" descr="Base de la torre y porta-cartas impresos en 3D">    </p:cNvPr>
          <p:cNvPicPr>
            <a:picLocks noChangeAspect="1"/>
          </p:cNvPicPr>
          <p:nvPr/>
        </p:nvPicPr>
        <p:blipFill>
          <a:blip r:embed="rId1"/>
          <a:stretch>
            <a:fillRect/>
          </a:stretch>
        </p:blipFill>
        <p:spPr>
          <a:xfrm>
            <a:off x="777240" y="2011680"/>
            <a:ext cx="6583680" cy="2658794"/>
          </a:xfrm>
          <a:prstGeom prst="rect">
            <a:avLst/>
          </a:prstGeom>
        </p:spPr>
      </p:pic>
      <p:sp>
        <p:nvSpPr>
          <p:cNvPr id="5" name="Text 2"/>
          <p:cNvSpPr txBox="1"/>
          <p:nvPr/>
        </p:nvSpPr>
        <p:spPr>
          <a:xfrm>
            <a:off x="7772400" y="2148840"/>
            <a:ext cx="3840480" cy="365760"/>
          </a:xfrm>
          <a:prstGeom prst="rect">
            <a:avLst/>
          </a:prstGeom>
          <a:noFill/>
          <a:ln/>
        </p:spPr>
        <p:txBody>
          <a:bodyPr wrap="square" lIns="0" tIns="0" rIns="0" bIns="0" rtlCol="0" anchor="ctr"/>
          <a:lstStyle/>
          <a:p>
            <a:pPr indent="0" marL="0">
              <a:buNone/>
            </a:pPr>
            <a:r>
              <a:rPr lang="en-US" sz="2000" b="1" dirty="0">
                <a:solidFill>
                  <a:srgbClr val="1A1A1A"/>
                </a:solidFill>
                <a:latin typeface="Cambria" pitchFamily="34" charset="0"/>
                <a:ea typeface="Cambria" pitchFamily="34" charset="-122"/>
                <a:cs typeface="Cambria" pitchFamily="34" charset="-120"/>
              </a:rPr>
              <a:t>Base de la torre</a:t>
            </a:r>
            <a:endParaRPr lang="en-US" sz="2000" dirty="0"/>
          </a:p>
        </p:txBody>
      </p:sp>
      <p:sp>
        <p:nvSpPr>
          <p:cNvPr id="6" name="Text 3"/>
          <p:cNvSpPr txBox="1"/>
          <p:nvPr/>
        </p:nvSpPr>
        <p:spPr>
          <a:xfrm>
            <a:off x="7772400" y="2532888"/>
            <a:ext cx="3840480" cy="320040"/>
          </a:xfrm>
          <a:prstGeom prst="rect">
            <a:avLst/>
          </a:prstGeom>
          <a:noFill/>
          <a:ln/>
        </p:spPr>
        <p:txBody>
          <a:bodyPr wrap="square" lIns="0" tIns="0" rIns="0" bIns="0" rtlCol="0" anchor="ctr"/>
          <a:lstStyle/>
          <a:p>
            <a:pPr indent="0" marL="0">
              <a:buNone/>
            </a:pPr>
            <a:r>
              <a:rPr lang="en-US" sz="1350" b="1" dirty="0">
                <a:solidFill>
                  <a:srgbClr val="C24A2F"/>
                </a:solidFill>
                <a:latin typeface="Calibri" pitchFamily="34" charset="0"/>
                <a:ea typeface="Calibri" pitchFamily="34" charset="-122"/>
                <a:cs typeface="Calibri" pitchFamily="34" charset="-120"/>
              </a:rPr>
              <a:t>85 × 85 × 9 mm</a:t>
            </a:r>
            <a:endParaRPr lang="en-US" sz="1350" dirty="0"/>
          </a:p>
        </p:txBody>
      </p:sp>
      <p:sp>
        <p:nvSpPr>
          <p:cNvPr id="7" name="Text 4"/>
          <p:cNvSpPr txBox="1"/>
          <p:nvPr/>
        </p:nvSpPr>
        <p:spPr>
          <a:xfrm>
            <a:off x="7772400" y="2880360"/>
            <a:ext cx="3840480" cy="73152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Apoya y centra el primer piso, y protege la mesa.</a:t>
            </a:r>
            <a:endParaRPr lang="en-US" sz="1350" dirty="0"/>
          </a:p>
        </p:txBody>
      </p:sp>
      <p:sp>
        <p:nvSpPr>
          <p:cNvPr id="8" name="Text 5"/>
          <p:cNvSpPr txBox="1"/>
          <p:nvPr/>
        </p:nvSpPr>
        <p:spPr>
          <a:xfrm>
            <a:off x="7772400" y="3840480"/>
            <a:ext cx="3840480" cy="365760"/>
          </a:xfrm>
          <a:prstGeom prst="rect">
            <a:avLst/>
          </a:prstGeom>
          <a:noFill/>
          <a:ln/>
        </p:spPr>
        <p:txBody>
          <a:bodyPr wrap="square" lIns="0" tIns="0" rIns="0" bIns="0" rtlCol="0" anchor="ctr"/>
          <a:lstStyle/>
          <a:p>
            <a:pPr indent="0" marL="0">
              <a:buNone/>
            </a:pPr>
            <a:r>
              <a:rPr lang="en-US" sz="2000" b="1" dirty="0">
                <a:solidFill>
                  <a:srgbClr val="1A1A1A"/>
                </a:solidFill>
                <a:latin typeface="Cambria" pitchFamily="34" charset="0"/>
                <a:ea typeface="Cambria" pitchFamily="34" charset="-122"/>
                <a:cs typeface="Cambria" pitchFamily="34" charset="-120"/>
              </a:rPr>
              <a:t>Porta-cartas</a:t>
            </a:r>
            <a:endParaRPr lang="en-US" sz="2000" dirty="0"/>
          </a:p>
        </p:txBody>
      </p:sp>
      <p:sp>
        <p:nvSpPr>
          <p:cNvPr id="9" name="Text 6"/>
          <p:cNvSpPr txBox="1"/>
          <p:nvPr/>
        </p:nvSpPr>
        <p:spPr>
          <a:xfrm>
            <a:off x="7772400" y="4224528"/>
            <a:ext cx="3840480" cy="320040"/>
          </a:xfrm>
          <a:prstGeom prst="rect">
            <a:avLst/>
          </a:prstGeom>
          <a:noFill/>
          <a:ln/>
        </p:spPr>
        <p:txBody>
          <a:bodyPr wrap="square" lIns="0" tIns="0" rIns="0" bIns="0" rtlCol="0" anchor="ctr"/>
          <a:lstStyle/>
          <a:p>
            <a:pPr indent="0" marL="0">
              <a:buNone/>
            </a:pPr>
            <a:r>
              <a:rPr lang="en-US" sz="1350" b="1" dirty="0">
                <a:solidFill>
                  <a:srgbClr val="C24A2F"/>
                </a:solidFill>
                <a:latin typeface="Calibri" pitchFamily="34" charset="0"/>
                <a:ea typeface="Calibri" pitchFamily="34" charset="-122"/>
                <a:cs typeface="Calibri" pitchFamily="34" charset="-120"/>
              </a:rPr>
              <a:t>81 × 109 × 22 mm</a:t>
            </a:r>
            <a:endParaRPr lang="en-US" sz="1350" dirty="0"/>
          </a:p>
        </p:txBody>
      </p:sp>
      <p:sp>
        <p:nvSpPr>
          <p:cNvPr id="10" name="Text 7"/>
          <p:cNvSpPr txBox="1"/>
          <p:nvPr/>
        </p:nvSpPr>
        <p:spPr>
          <a:xfrm>
            <a:off x="7772400" y="4572000"/>
            <a:ext cx="3840480" cy="73152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Bandeja para los mazos, con el frente bajo para sacar las cartas.</a:t>
            </a:r>
            <a:endParaRPr lang="en-US" sz="1350" dirty="0"/>
          </a:p>
        </p:txBody>
      </p:sp>
      <p:sp>
        <p:nvSpPr>
          <p:cNvPr id="11" name="Text 8"/>
          <p:cNvSpPr txBox="1"/>
          <p:nvPr/>
        </p:nvSpPr>
        <p:spPr>
          <a:xfrm>
            <a:off x="777240" y="5212080"/>
            <a:ext cx="6583680" cy="365760"/>
          </a:xfrm>
          <a:prstGeom prst="rect">
            <a:avLst/>
          </a:prstGeom>
          <a:noFill/>
          <a:ln/>
        </p:spPr>
        <p:txBody>
          <a:bodyPr wrap="square" lIns="0" tIns="0" rIns="0" bIns="0" rtlCol="0" anchor="ctr"/>
          <a:lstStyle/>
          <a:p>
            <a:pPr algn="ctr" indent="0" marL="0">
              <a:buNone/>
            </a:pPr>
            <a:r>
              <a:rPr lang="en-US" sz="1350" i="1" dirty="0">
                <a:solidFill>
                  <a:srgbClr val="5A6070"/>
                </a:solidFill>
                <a:latin typeface="Calibri" pitchFamily="34" charset="0"/>
                <a:ea typeface="Calibri" pitchFamily="34" charset="-122"/>
                <a:cs typeface="Calibri" pitchFamily="34" charset="-120"/>
              </a:rPr>
              <a:t>Las dos se imprimen apoyadas en la cama y sin soportes.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Cómo se fabrica</a:t>
            </a:r>
            <a:endParaRPr lang="en-US" sz="3800" dirty="0"/>
          </a:p>
        </p:txBody>
      </p:sp>
      <p:sp>
        <p:nvSpPr>
          <p:cNvPr id="3" name="Shape 1"/>
          <p:cNvSpPr/>
          <p:nvPr/>
        </p:nvSpPr>
        <p:spPr>
          <a:xfrm>
            <a:off x="640080" y="1691640"/>
            <a:ext cx="10881360" cy="1298448"/>
          </a:xfrm>
          <a:prstGeom prst="roundRect">
            <a:avLst>
              <a:gd name="adj" fmla="val 4225"/>
            </a:avLst>
          </a:prstGeom>
          <a:solidFill>
            <a:srgbClr val="F4F2EE"/>
          </a:solidFill>
          <a:ln w="12700">
            <a:solidFill>
              <a:srgbClr val="F4F2EE"/>
            </a:solidFill>
            <a:prstDash val="solid"/>
          </a:ln>
        </p:spPr>
      </p:sp>
      <p:sp>
        <p:nvSpPr>
          <p:cNvPr id="4" name="Shape 2"/>
          <p:cNvSpPr/>
          <p:nvPr/>
        </p:nvSpPr>
        <p:spPr>
          <a:xfrm>
            <a:off x="960120" y="2075688"/>
            <a:ext cx="548640" cy="548640"/>
          </a:xfrm>
          <a:prstGeom prst="ellipse">
            <a:avLst/>
          </a:prstGeom>
          <a:solidFill>
            <a:srgbClr val="2A3247"/>
          </a:solidFill>
          <a:ln w="12700">
            <a:solidFill>
              <a:srgbClr val="2A3247"/>
            </a:solidFill>
            <a:prstDash val="solid"/>
          </a:ln>
        </p:spPr>
      </p:sp>
      <p:sp>
        <p:nvSpPr>
          <p:cNvPr id="5" name="Text 3"/>
          <p:cNvSpPr txBox="1"/>
          <p:nvPr/>
        </p:nvSpPr>
        <p:spPr>
          <a:xfrm>
            <a:off x="960120" y="2075688"/>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737360" y="1892808"/>
            <a:ext cx="3840480" cy="411480"/>
          </a:xfrm>
          <a:prstGeom prst="rect">
            <a:avLst/>
          </a:prstGeom>
          <a:noFill/>
          <a:ln/>
        </p:spPr>
        <p:txBody>
          <a:bodyPr wrap="square" lIns="0" tIns="0" rIns="0" bIns="0" rtlCol="0" anchor="ctr"/>
          <a:lstStyle/>
          <a:p>
            <a:pPr indent="0" marL="0">
              <a:buNone/>
            </a:pPr>
            <a:r>
              <a:rPr lang="en-US" sz="1700" b="1" dirty="0">
                <a:solidFill>
                  <a:srgbClr val="1A1A1A"/>
                </a:solidFill>
                <a:latin typeface="Calibri" pitchFamily="34" charset="0"/>
                <a:ea typeface="Calibri" pitchFamily="34" charset="-122"/>
                <a:cs typeface="Calibri" pitchFamily="34" charset="-120"/>
              </a:rPr>
              <a:t>Imprimir los bloques</a:t>
            </a:r>
            <a:endParaRPr lang="en-US" sz="1700" dirty="0"/>
          </a:p>
        </p:txBody>
      </p:sp>
      <p:sp>
        <p:nvSpPr>
          <p:cNvPr id="7" name="Text 5"/>
          <p:cNvSpPr txBox="1"/>
          <p:nvPr/>
        </p:nvSpPr>
        <p:spPr>
          <a:xfrm>
            <a:off x="1737360" y="2313432"/>
            <a:ext cx="9326880" cy="59436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El archivo STL trae los 15 bloques distintos. Se imprime 3 veces y quedan los 45 bloques: 15 pisos exactos de 3.</a:t>
            </a:r>
            <a:endParaRPr lang="en-US" sz="1350" dirty="0"/>
          </a:p>
        </p:txBody>
      </p:sp>
      <p:sp>
        <p:nvSpPr>
          <p:cNvPr id="8" name="Shape 6"/>
          <p:cNvSpPr/>
          <p:nvPr/>
        </p:nvSpPr>
        <p:spPr>
          <a:xfrm>
            <a:off x="640080" y="3172968"/>
            <a:ext cx="10881360" cy="1298448"/>
          </a:xfrm>
          <a:prstGeom prst="roundRect">
            <a:avLst>
              <a:gd name="adj" fmla="val 4225"/>
            </a:avLst>
          </a:prstGeom>
          <a:solidFill>
            <a:srgbClr val="F4F2EE"/>
          </a:solidFill>
          <a:ln w="12700">
            <a:solidFill>
              <a:srgbClr val="F4F2EE"/>
            </a:solidFill>
            <a:prstDash val="solid"/>
          </a:ln>
        </p:spPr>
      </p:sp>
      <p:sp>
        <p:nvSpPr>
          <p:cNvPr id="9" name="Shape 7"/>
          <p:cNvSpPr/>
          <p:nvPr/>
        </p:nvSpPr>
        <p:spPr>
          <a:xfrm>
            <a:off x="960120" y="3557016"/>
            <a:ext cx="548640" cy="548640"/>
          </a:xfrm>
          <a:prstGeom prst="ellipse">
            <a:avLst/>
          </a:prstGeom>
          <a:solidFill>
            <a:srgbClr val="2A3247"/>
          </a:solidFill>
          <a:ln w="12700">
            <a:solidFill>
              <a:srgbClr val="2A3247"/>
            </a:solidFill>
            <a:prstDash val="solid"/>
          </a:ln>
        </p:spPr>
      </p:sp>
      <p:sp>
        <p:nvSpPr>
          <p:cNvPr id="10" name="Text 8"/>
          <p:cNvSpPr txBox="1"/>
          <p:nvPr/>
        </p:nvSpPr>
        <p:spPr>
          <a:xfrm>
            <a:off x="960120" y="3557016"/>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1" name="Text 9"/>
          <p:cNvSpPr txBox="1"/>
          <p:nvPr/>
        </p:nvSpPr>
        <p:spPr>
          <a:xfrm>
            <a:off x="1737360" y="3374136"/>
            <a:ext cx="3840480" cy="411480"/>
          </a:xfrm>
          <a:prstGeom prst="rect">
            <a:avLst/>
          </a:prstGeom>
          <a:noFill/>
          <a:ln/>
        </p:spPr>
        <p:txBody>
          <a:bodyPr wrap="square" lIns="0" tIns="0" rIns="0" bIns="0" rtlCol="0" anchor="ctr"/>
          <a:lstStyle/>
          <a:p>
            <a:pPr indent="0" marL="0">
              <a:buNone/>
            </a:pPr>
            <a:r>
              <a:rPr lang="en-US" sz="1700" b="1" dirty="0">
                <a:solidFill>
                  <a:srgbClr val="1A1A1A"/>
                </a:solidFill>
                <a:latin typeface="Calibri" pitchFamily="34" charset="0"/>
                <a:ea typeface="Calibri" pitchFamily="34" charset="-122"/>
                <a:cs typeface="Calibri" pitchFamily="34" charset="-120"/>
              </a:rPr>
              <a:t>Imprimir base y porta-cartas</a:t>
            </a:r>
            <a:endParaRPr lang="en-US" sz="1700" dirty="0"/>
          </a:p>
        </p:txBody>
      </p:sp>
      <p:sp>
        <p:nvSpPr>
          <p:cNvPr id="12" name="Text 10"/>
          <p:cNvSpPr txBox="1"/>
          <p:nvPr/>
        </p:nvSpPr>
        <p:spPr>
          <a:xfrm>
            <a:off x="1737360" y="3794760"/>
            <a:ext cx="9326880" cy="59436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Una vez cada uno. Boquilla 0,4 mm, capa 0,2 mm, relleno 15–20 %, sin soportes.</a:t>
            </a:r>
            <a:endParaRPr lang="en-US" sz="1350" dirty="0"/>
          </a:p>
        </p:txBody>
      </p:sp>
      <p:sp>
        <p:nvSpPr>
          <p:cNvPr id="13" name="Shape 11"/>
          <p:cNvSpPr/>
          <p:nvPr/>
        </p:nvSpPr>
        <p:spPr>
          <a:xfrm>
            <a:off x="640080" y="4654296"/>
            <a:ext cx="10881360" cy="1298448"/>
          </a:xfrm>
          <a:prstGeom prst="roundRect">
            <a:avLst>
              <a:gd name="adj" fmla="val 4225"/>
            </a:avLst>
          </a:prstGeom>
          <a:solidFill>
            <a:srgbClr val="F4F2EE"/>
          </a:solidFill>
          <a:ln w="12700">
            <a:solidFill>
              <a:srgbClr val="F4F2EE"/>
            </a:solidFill>
            <a:prstDash val="solid"/>
          </a:ln>
        </p:spPr>
      </p:sp>
      <p:sp>
        <p:nvSpPr>
          <p:cNvPr id="14" name="Shape 12"/>
          <p:cNvSpPr/>
          <p:nvPr/>
        </p:nvSpPr>
        <p:spPr>
          <a:xfrm>
            <a:off x="960120" y="5038344"/>
            <a:ext cx="548640" cy="548640"/>
          </a:xfrm>
          <a:prstGeom prst="ellipse">
            <a:avLst/>
          </a:prstGeom>
          <a:solidFill>
            <a:srgbClr val="2A3247"/>
          </a:solidFill>
          <a:ln w="12700">
            <a:solidFill>
              <a:srgbClr val="2A3247"/>
            </a:solidFill>
            <a:prstDash val="solid"/>
          </a:ln>
        </p:spPr>
      </p:sp>
      <p:sp>
        <p:nvSpPr>
          <p:cNvPr id="15" name="Text 13"/>
          <p:cNvSpPr txBox="1"/>
          <p:nvPr/>
        </p:nvSpPr>
        <p:spPr>
          <a:xfrm>
            <a:off x="960120" y="5038344"/>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1737360" y="4855464"/>
            <a:ext cx="3840480" cy="411480"/>
          </a:xfrm>
          <a:prstGeom prst="rect">
            <a:avLst/>
          </a:prstGeom>
          <a:noFill/>
          <a:ln/>
        </p:spPr>
        <p:txBody>
          <a:bodyPr wrap="square" lIns="0" tIns="0" rIns="0" bIns="0" rtlCol="0" anchor="ctr"/>
          <a:lstStyle/>
          <a:p>
            <a:pPr indent="0" marL="0">
              <a:buNone/>
            </a:pPr>
            <a:r>
              <a:rPr lang="en-US" sz="1700" b="1" dirty="0">
                <a:solidFill>
                  <a:srgbClr val="1A1A1A"/>
                </a:solidFill>
                <a:latin typeface="Calibri" pitchFamily="34" charset="0"/>
                <a:ea typeface="Calibri" pitchFamily="34" charset="-122"/>
                <a:cs typeface="Calibri" pitchFamily="34" charset="-120"/>
              </a:rPr>
              <a:t>Imprimir y recortar las cartas</a:t>
            </a:r>
            <a:endParaRPr lang="en-US" sz="1700" dirty="0"/>
          </a:p>
        </p:txBody>
      </p:sp>
      <p:sp>
        <p:nvSpPr>
          <p:cNvPr id="17" name="Text 15"/>
          <p:cNvSpPr txBox="1"/>
          <p:nvPr/>
        </p:nvSpPr>
        <p:spPr>
          <a:xfrm>
            <a:off x="1737360" y="5276088"/>
            <a:ext cx="9326880" cy="59436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Los 15 PDF, a doble faz girando por el lado largo, en papel de 160–200 g. Se recortan por las cruces de las esquinas.</a:t>
            </a:r>
            <a:endParaRPr lang="en-US" sz="1350" dirty="0"/>
          </a:p>
        </p:txBody>
      </p:sp>
      <p:sp>
        <p:nvSpPr>
          <p:cNvPr id="18" name="Text 16"/>
          <p:cNvSpPr txBox="1"/>
          <p:nvPr/>
        </p:nvSpPr>
        <p:spPr>
          <a:xfrm>
            <a:off x="640080" y="6172200"/>
            <a:ext cx="10881360" cy="457200"/>
          </a:xfrm>
          <a:prstGeom prst="rect">
            <a:avLst/>
          </a:prstGeom>
          <a:noFill/>
          <a:ln/>
        </p:spPr>
        <p:txBody>
          <a:bodyPr wrap="square" lIns="0" tIns="0" rIns="0" bIns="0" rtlCol="0" anchor="ctr"/>
          <a:lstStyle/>
          <a:p>
            <a:pPr indent="0" marL="0">
              <a:buNone/>
            </a:pPr>
            <a:r>
              <a:rPr lang="en-US" sz="1350" i="1" dirty="0">
                <a:solidFill>
                  <a:srgbClr val="5A6070"/>
                </a:solidFill>
                <a:latin typeface="Calibri" pitchFamily="34" charset="0"/>
                <a:ea typeface="Calibri" pitchFamily="34" charset="-122"/>
                <a:cs typeface="Calibri" pitchFamily="34" charset="-120"/>
              </a:rPr>
              <a:t>Todo el material —bloques, base, porta-cartas, cartas, reglas y hoja de puntaje— está listo para descargar e imprimir.</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C2333"/>
        </a:solidFill>
      </p:bgPr>
    </p:bg>
    <p:spTree>
      <p:nvGrpSpPr>
        <p:cNvPr id="1" name=""/>
        <p:cNvGrpSpPr/>
        <p:nvPr/>
      </p:nvGrpSpPr>
      <p:grpSpPr>
        <a:xfrm>
          <a:off x="0" y="0"/>
          <a:ext cx="0" cy="0"/>
          <a:chOff x="0" y="0"/>
          <a:chExt cx="0" cy="0"/>
        </a:xfrm>
      </p:grpSpPr>
      <p:sp>
        <p:nvSpPr>
          <p:cNvPr id="2" name="Text 0"/>
          <p:cNvSpPr txBox="1"/>
          <p:nvPr/>
        </p:nvSpPr>
        <p:spPr>
          <a:xfrm>
            <a:off x="640080" y="1463040"/>
            <a:ext cx="7315200" cy="365760"/>
          </a:xfrm>
          <a:prstGeom prst="rect">
            <a:avLst/>
          </a:prstGeom>
          <a:noFill/>
          <a:ln/>
        </p:spPr>
        <p:txBody>
          <a:bodyPr wrap="square" lIns="0" tIns="0" rIns="0" bIns="0" rtlCol="0" anchor="ctr"/>
          <a:lstStyle/>
          <a:p>
            <a:pPr indent="0" marL="0">
              <a:buNone/>
            </a:pPr>
            <a:r>
              <a:rPr lang="en-US" sz="1250" b="1" spc="200" kern="0" dirty="0">
                <a:solidFill>
                  <a:srgbClr val="8A90A0"/>
                </a:solidFill>
                <a:latin typeface="Calibri" pitchFamily="34" charset="0"/>
                <a:ea typeface="Calibri" pitchFamily="34" charset="-122"/>
                <a:cs typeface="Calibri" pitchFamily="34" charset="-120"/>
              </a:rPr>
              <a:t>En una frase</a:t>
            </a:r>
            <a:endParaRPr lang="en-US" sz="1250" dirty="0"/>
          </a:p>
        </p:txBody>
      </p:sp>
      <p:sp>
        <p:nvSpPr>
          <p:cNvPr id="3" name="Text 1"/>
          <p:cNvSpPr txBox="1"/>
          <p:nvPr/>
        </p:nvSpPr>
        <p:spPr>
          <a:xfrm>
            <a:off x="640080" y="1965960"/>
            <a:ext cx="6766560" cy="2377440"/>
          </a:xfrm>
          <a:prstGeom prst="rect">
            <a:avLst/>
          </a:prstGeom>
          <a:noFill/>
          <a:ln/>
        </p:spPr>
        <p:txBody>
          <a:bodyPr wrap="square" lIns="0" tIns="0" rIns="0" bIns="0" rtlCol="0" anchor="ctr"/>
          <a:lstStyle/>
          <a:p>
            <a:pPr indent="0" marL="0">
              <a:lnSpc>
                <a:spcPts val="5000"/>
              </a:lnSpc>
              <a:buNone/>
            </a:pPr>
            <a:r>
              <a:rPr lang="en-US" sz="4200" b="1" dirty="0">
                <a:solidFill>
                  <a:srgbClr val="FFFFFF"/>
                </a:solidFill>
                <a:latin typeface="Cambria" pitchFamily="34" charset="0"/>
                <a:ea typeface="Cambria" pitchFamily="34" charset="-122"/>
                <a:cs typeface="Cambria" pitchFamily="34" charset="-120"/>
              </a:rPr>
              <a:t>Equilibrio físico,</a:t>
            </a:r>
            <a:endParaRPr lang="en-US" sz="4200" dirty="0"/>
          </a:p>
          <a:p>
            <a:pPr indent="0" marL="0">
              <a:lnSpc>
                <a:spcPts val="5000"/>
              </a:lnSpc>
              <a:buNone/>
            </a:pPr>
            <a:r>
              <a:rPr lang="en-US" sz="4200" b="1" dirty="0">
                <a:solidFill>
                  <a:srgbClr val="FFFFFF"/>
                </a:solidFill>
                <a:latin typeface="Cambria" pitchFamily="34" charset="0"/>
                <a:ea typeface="Cambria" pitchFamily="34" charset="-122"/>
                <a:cs typeface="Cambria" pitchFamily="34" charset="-120"/>
              </a:rPr>
              <a:t>contenido escolar</a:t>
            </a:r>
            <a:endParaRPr lang="en-US" sz="4200" dirty="0"/>
          </a:p>
          <a:p>
            <a:pPr indent="0" marL="0">
              <a:lnSpc>
                <a:spcPts val="5000"/>
              </a:lnSpc>
              <a:buNone/>
            </a:pPr>
            <a:r>
              <a:rPr lang="en-US" sz="4200" b="1" dirty="0">
                <a:solidFill>
                  <a:srgbClr val="FFFFFF"/>
                </a:solidFill>
                <a:latin typeface="Cambria" pitchFamily="34" charset="0"/>
                <a:ea typeface="Cambria" pitchFamily="34" charset="-122"/>
                <a:cs typeface="Cambria" pitchFamily="34" charset="-120"/>
              </a:rPr>
              <a:t>y estrategia.</a:t>
            </a:r>
            <a:endParaRPr lang="en-US" sz="4200" dirty="0"/>
          </a:p>
        </p:txBody>
      </p:sp>
      <p:sp>
        <p:nvSpPr>
          <p:cNvPr id="4" name="Text 2"/>
          <p:cNvSpPr txBox="1"/>
          <p:nvPr/>
        </p:nvSpPr>
        <p:spPr>
          <a:xfrm>
            <a:off x="640080" y="4526280"/>
            <a:ext cx="6766560" cy="731520"/>
          </a:xfrm>
          <a:prstGeom prst="rect">
            <a:avLst/>
          </a:prstGeom>
          <a:noFill/>
          <a:ln/>
        </p:spPr>
        <p:txBody>
          <a:bodyPr wrap="square" lIns="0" tIns="0" rIns="0" bIns="0" rtlCol="0" anchor="ctr"/>
          <a:lstStyle/>
          <a:p>
            <a:pPr indent="0" marL="0">
              <a:lnSpc>
                <a:spcPts val="2400"/>
              </a:lnSpc>
              <a:buNone/>
            </a:pPr>
            <a:r>
              <a:rPr lang="en-US" sz="1700" dirty="0">
                <a:solidFill>
                  <a:srgbClr val="D8DCE6"/>
                </a:solidFill>
                <a:latin typeface="Calibri" pitchFamily="34" charset="0"/>
                <a:ea typeface="Calibri" pitchFamily="34" charset="-122"/>
                <a:cs typeface="Calibri" pitchFamily="34" charset="-120"/>
              </a:rPr>
              <a:t>Un objeto impreso en 3D que enseña sin explicar: la pieza misma dice de qué se trata.</a:t>
            </a:r>
            <a:endParaRPr lang="en-US" sz="1700" dirty="0"/>
          </a:p>
        </p:txBody>
      </p:sp>
      <p:sp>
        <p:nvSpPr>
          <p:cNvPr id="5" name="Text 3"/>
          <p:cNvSpPr txBox="1"/>
          <p:nvPr/>
        </p:nvSpPr>
        <p:spPr>
          <a:xfrm>
            <a:off x="8412480" y="1600200"/>
            <a:ext cx="1280160" cy="640080"/>
          </a:xfrm>
          <a:prstGeom prst="rect">
            <a:avLst/>
          </a:prstGeom>
          <a:noFill/>
          <a:ln/>
        </p:spPr>
        <p:txBody>
          <a:bodyPr wrap="square" lIns="0" tIns="0" rIns="0" bIns="0" rtlCol="0" anchor="ctr"/>
          <a:lstStyle/>
          <a:p>
            <a:pPr algn="r" indent="0" marL="0">
              <a:buNone/>
            </a:pPr>
            <a:r>
              <a:rPr lang="en-US" sz="3400" b="1" dirty="0">
                <a:solidFill>
                  <a:srgbClr val="C24A2F"/>
                </a:solidFill>
                <a:latin typeface="Cambria" pitchFamily="34" charset="0"/>
                <a:ea typeface="Cambria" pitchFamily="34" charset="-122"/>
                <a:cs typeface="Cambria" pitchFamily="34" charset="-120"/>
              </a:rPr>
              <a:t>45</a:t>
            </a:r>
            <a:endParaRPr lang="en-US" sz="3400" dirty="0"/>
          </a:p>
        </p:txBody>
      </p:sp>
      <p:sp>
        <p:nvSpPr>
          <p:cNvPr id="6" name="Text 4"/>
          <p:cNvSpPr txBox="1"/>
          <p:nvPr/>
        </p:nvSpPr>
        <p:spPr>
          <a:xfrm>
            <a:off x="9829800" y="1764792"/>
            <a:ext cx="2011680" cy="365760"/>
          </a:xfrm>
          <a:prstGeom prst="rect">
            <a:avLst/>
          </a:prstGeom>
          <a:noFill/>
          <a:ln/>
        </p:spPr>
        <p:txBody>
          <a:bodyPr wrap="square" lIns="0" tIns="0" rIns="0" bIns="0" rtlCol="0" anchor="ctr"/>
          <a:lstStyle/>
          <a:p>
            <a:pPr indent="0" marL="0">
              <a:buNone/>
            </a:pPr>
            <a:r>
              <a:rPr lang="en-US" sz="1500" dirty="0">
                <a:solidFill>
                  <a:srgbClr val="8A90A0"/>
                </a:solidFill>
                <a:latin typeface="Calibri" pitchFamily="34" charset="0"/>
                <a:ea typeface="Calibri" pitchFamily="34" charset="-122"/>
                <a:cs typeface="Calibri" pitchFamily="34" charset="-120"/>
              </a:rPr>
              <a:t>bloques</a:t>
            </a:r>
            <a:endParaRPr lang="en-US" sz="1500" dirty="0"/>
          </a:p>
        </p:txBody>
      </p:sp>
      <p:sp>
        <p:nvSpPr>
          <p:cNvPr id="7" name="Text 5"/>
          <p:cNvSpPr txBox="1"/>
          <p:nvPr/>
        </p:nvSpPr>
        <p:spPr>
          <a:xfrm>
            <a:off x="8412480" y="2743200"/>
            <a:ext cx="1280160" cy="640080"/>
          </a:xfrm>
          <a:prstGeom prst="rect">
            <a:avLst/>
          </a:prstGeom>
          <a:noFill/>
          <a:ln/>
        </p:spPr>
        <p:txBody>
          <a:bodyPr wrap="square" lIns="0" tIns="0" rIns="0" bIns="0" rtlCol="0" anchor="ctr"/>
          <a:lstStyle/>
          <a:p>
            <a:pPr algn="r" indent="0" marL="0">
              <a:buNone/>
            </a:pPr>
            <a:r>
              <a:rPr lang="en-US" sz="3400" b="1" dirty="0">
                <a:solidFill>
                  <a:srgbClr val="C24A2F"/>
                </a:solidFill>
                <a:latin typeface="Cambria" pitchFamily="34" charset="0"/>
                <a:ea typeface="Cambria" pitchFamily="34" charset="-122"/>
                <a:cs typeface="Cambria" pitchFamily="34" charset="-120"/>
              </a:rPr>
              <a:t>15</a:t>
            </a:r>
            <a:endParaRPr lang="en-US" sz="3400" dirty="0"/>
          </a:p>
        </p:txBody>
      </p:sp>
      <p:sp>
        <p:nvSpPr>
          <p:cNvPr id="8" name="Text 6"/>
          <p:cNvSpPr txBox="1"/>
          <p:nvPr/>
        </p:nvSpPr>
        <p:spPr>
          <a:xfrm>
            <a:off x="9829800" y="2907792"/>
            <a:ext cx="2011680" cy="365760"/>
          </a:xfrm>
          <a:prstGeom prst="rect">
            <a:avLst/>
          </a:prstGeom>
          <a:noFill/>
          <a:ln/>
        </p:spPr>
        <p:txBody>
          <a:bodyPr wrap="square" lIns="0" tIns="0" rIns="0" bIns="0" rtlCol="0" anchor="ctr"/>
          <a:lstStyle/>
          <a:p>
            <a:pPr indent="0" marL="0">
              <a:buNone/>
            </a:pPr>
            <a:r>
              <a:rPr lang="en-US" sz="1500" dirty="0">
                <a:solidFill>
                  <a:srgbClr val="8A90A0"/>
                </a:solidFill>
                <a:latin typeface="Calibri" pitchFamily="34" charset="0"/>
                <a:ea typeface="Calibri" pitchFamily="34" charset="-122"/>
                <a:cs typeface="Calibri" pitchFamily="34" charset="-120"/>
              </a:rPr>
              <a:t>pisos</a:t>
            </a:r>
            <a:endParaRPr lang="en-US" sz="1500" dirty="0"/>
          </a:p>
        </p:txBody>
      </p:sp>
      <p:sp>
        <p:nvSpPr>
          <p:cNvPr id="9" name="Text 7"/>
          <p:cNvSpPr txBox="1"/>
          <p:nvPr/>
        </p:nvSpPr>
        <p:spPr>
          <a:xfrm>
            <a:off x="8412480" y="3886200"/>
            <a:ext cx="1280160" cy="640080"/>
          </a:xfrm>
          <a:prstGeom prst="rect">
            <a:avLst/>
          </a:prstGeom>
          <a:noFill/>
          <a:ln/>
        </p:spPr>
        <p:txBody>
          <a:bodyPr wrap="square" lIns="0" tIns="0" rIns="0" bIns="0" rtlCol="0" anchor="ctr"/>
          <a:lstStyle/>
          <a:p>
            <a:pPr algn="r" indent="0" marL="0">
              <a:buNone/>
            </a:pPr>
            <a:r>
              <a:rPr lang="en-US" sz="3400" b="1" dirty="0">
                <a:solidFill>
                  <a:srgbClr val="C24A2F"/>
                </a:solidFill>
                <a:latin typeface="Cambria" pitchFamily="34" charset="0"/>
                <a:ea typeface="Cambria" pitchFamily="34" charset="-122"/>
                <a:cs typeface="Cambria" pitchFamily="34" charset="-120"/>
              </a:rPr>
              <a:t>60</a:t>
            </a:r>
            <a:endParaRPr lang="en-US" sz="3400" dirty="0"/>
          </a:p>
        </p:txBody>
      </p:sp>
      <p:sp>
        <p:nvSpPr>
          <p:cNvPr id="10" name="Text 8"/>
          <p:cNvSpPr txBox="1"/>
          <p:nvPr/>
        </p:nvSpPr>
        <p:spPr>
          <a:xfrm>
            <a:off x="9829800" y="4050792"/>
            <a:ext cx="2011680" cy="365760"/>
          </a:xfrm>
          <a:prstGeom prst="rect">
            <a:avLst/>
          </a:prstGeom>
          <a:noFill/>
          <a:ln/>
        </p:spPr>
        <p:txBody>
          <a:bodyPr wrap="square" lIns="0" tIns="0" rIns="0" bIns="0" rtlCol="0" anchor="ctr"/>
          <a:lstStyle/>
          <a:p>
            <a:pPr indent="0" marL="0">
              <a:buNone/>
            </a:pPr>
            <a:r>
              <a:rPr lang="en-US" sz="1500" dirty="0">
                <a:solidFill>
                  <a:srgbClr val="8A90A0"/>
                </a:solidFill>
                <a:latin typeface="Calibri" pitchFamily="34" charset="0"/>
                <a:ea typeface="Calibri" pitchFamily="34" charset="-122"/>
                <a:cs typeface="Calibri" pitchFamily="34" charset="-120"/>
              </a:rPr>
              <a:t>preguntas</a:t>
            </a:r>
            <a:endParaRPr lang="en-US" sz="1500" dirty="0"/>
          </a:p>
        </p:txBody>
      </p:sp>
      <p:sp>
        <p:nvSpPr>
          <p:cNvPr id="11" name="Text 9"/>
          <p:cNvSpPr txBox="1"/>
          <p:nvPr/>
        </p:nvSpPr>
        <p:spPr>
          <a:xfrm>
            <a:off x="8412480" y="5029200"/>
            <a:ext cx="1280160" cy="640080"/>
          </a:xfrm>
          <a:prstGeom prst="rect">
            <a:avLst/>
          </a:prstGeom>
          <a:noFill/>
          <a:ln/>
        </p:spPr>
        <p:txBody>
          <a:bodyPr wrap="square" lIns="0" tIns="0" rIns="0" bIns="0" rtlCol="0" anchor="ctr"/>
          <a:lstStyle/>
          <a:p>
            <a:pPr algn="r" indent="0" marL="0">
              <a:buNone/>
            </a:pPr>
            <a:r>
              <a:rPr lang="en-US" sz="3400" b="1" dirty="0">
                <a:solidFill>
                  <a:srgbClr val="C24A2F"/>
                </a:solidFill>
                <a:latin typeface="Cambria" pitchFamily="34" charset="0"/>
                <a:ea typeface="Cambria" pitchFamily="34" charset="-122"/>
                <a:cs typeface="Cambria" pitchFamily="34" charset="-120"/>
              </a:rPr>
              <a:t>5</a:t>
            </a:r>
            <a:endParaRPr lang="en-US" sz="3400" dirty="0"/>
          </a:p>
        </p:txBody>
      </p:sp>
      <p:sp>
        <p:nvSpPr>
          <p:cNvPr id="12" name="Text 10"/>
          <p:cNvSpPr txBox="1"/>
          <p:nvPr/>
        </p:nvSpPr>
        <p:spPr>
          <a:xfrm>
            <a:off x="9829800" y="5193792"/>
            <a:ext cx="2011680" cy="365760"/>
          </a:xfrm>
          <a:prstGeom prst="rect">
            <a:avLst/>
          </a:prstGeom>
          <a:noFill/>
          <a:ln/>
        </p:spPr>
        <p:txBody>
          <a:bodyPr wrap="square" lIns="0" tIns="0" rIns="0" bIns="0" rtlCol="0" anchor="ctr"/>
          <a:lstStyle/>
          <a:p>
            <a:pPr indent="0" marL="0">
              <a:buNone/>
            </a:pPr>
            <a:r>
              <a:rPr lang="en-US" sz="1500" dirty="0">
                <a:solidFill>
                  <a:srgbClr val="8A90A0"/>
                </a:solidFill>
                <a:latin typeface="Calibri" pitchFamily="34" charset="0"/>
                <a:ea typeface="Calibri" pitchFamily="34" charset="-122"/>
                <a:cs typeface="Calibri" pitchFamily="34" charset="-120"/>
              </a:rPr>
              <a:t>materias</a:t>
            </a:r>
            <a:endParaRPr lang="en-US" sz="1500" dirty="0"/>
          </a:p>
        </p:txBody>
      </p:sp>
      <p:sp>
        <p:nvSpPr>
          <p:cNvPr id="13" name="Text 11"/>
          <p:cNvSpPr txBox="1"/>
          <p:nvPr/>
        </p:nvSpPr>
        <p:spPr>
          <a:xfrm>
            <a:off x="640080" y="5669280"/>
            <a:ext cx="6766560" cy="457200"/>
          </a:xfrm>
          <a:prstGeom prst="rect">
            <a:avLst/>
          </a:prstGeom>
          <a:noFill/>
          <a:ln/>
        </p:spPr>
        <p:txBody>
          <a:bodyPr wrap="square" lIns="0" tIns="0" rIns="0" bIns="0" rtlCol="0" anchor="ctr"/>
          <a:lstStyle/>
          <a:p>
            <a:pPr indent="0" marL="0">
              <a:buNone/>
            </a:pPr>
            <a:r>
              <a:rPr lang="en-US" sz="2200" b="1" i="1" dirty="0">
                <a:solidFill>
                  <a:srgbClr val="C24A2F"/>
                </a:solidFill>
                <a:latin typeface="Cambria" pitchFamily="34" charset="0"/>
                <a:ea typeface="Cambria" pitchFamily="34" charset="-122"/>
                <a:cs typeface="Cambria" pitchFamily="34" charset="-120"/>
              </a:rPr>
              <a:t>¿Jugamos una?</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Jenga de Cultura General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Jenga de Cultura General</dc:title>
  <dc:subject>Proyecto escolar de impresion 3D</dc:subject>
  <dc:creator>Jenga de Cultura General</dc:creator>
  <cp:lastModifiedBy>Jenga de Cultura General</cp:lastModifiedBy>
  <cp:revision>1</cp:revision>
  <dcterms:created xsi:type="dcterms:W3CDTF">2026-09-08T21:57:51Z</dcterms:created>
  <dcterms:modified xsi:type="dcterms:W3CDTF">2026-09-08T21:57:51Z</dcterms:modified>
</cp:coreProperties>
</file>